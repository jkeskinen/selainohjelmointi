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9"/>
  </p:notesMasterIdLst>
  <p:sldIdLst>
    <p:sldId id="281" r:id="rId2"/>
    <p:sldId id="282" r:id="rId3"/>
    <p:sldId id="385" r:id="rId4"/>
    <p:sldId id="386" r:id="rId5"/>
    <p:sldId id="387" r:id="rId6"/>
    <p:sldId id="283" r:id="rId7"/>
    <p:sldId id="256" r:id="rId8"/>
    <p:sldId id="257" r:id="rId9"/>
    <p:sldId id="259" r:id="rId10"/>
    <p:sldId id="260" r:id="rId11"/>
    <p:sldId id="321" r:id="rId12"/>
    <p:sldId id="323" r:id="rId13"/>
    <p:sldId id="322" r:id="rId14"/>
    <p:sldId id="324" r:id="rId15"/>
    <p:sldId id="325" r:id="rId16"/>
    <p:sldId id="326" r:id="rId17"/>
    <p:sldId id="327" r:id="rId18"/>
    <p:sldId id="328" r:id="rId19"/>
    <p:sldId id="329" r:id="rId20"/>
    <p:sldId id="330" r:id="rId21"/>
    <p:sldId id="337" r:id="rId22"/>
    <p:sldId id="338" r:id="rId23"/>
    <p:sldId id="332" r:id="rId24"/>
    <p:sldId id="284" r:id="rId25"/>
    <p:sldId id="313" r:id="rId26"/>
    <p:sldId id="314" r:id="rId27"/>
    <p:sldId id="333" r:id="rId28"/>
    <p:sldId id="334" r:id="rId29"/>
    <p:sldId id="335" r:id="rId30"/>
    <p:sldId id="336" r:id="rId31"/>
    <p:sldId id="339" r:id="rId32"/>
    <p:sldId id="340" r:id="rId33"/>
    <p:sldId id="341" r:id="rId34"/>
    <p:sldId id="342" r:id="rId35"/>
    <p:sldId id="343" r:id="rId36"/>
    <p:sldId id="344" r:id="rId37"/>
    <p:sldId id="345" r:id="rId38"/>
    <p:sldId id="346" r:id="rId39"/>
    <p:sldId id="348" r:id="rId40"/>
    <p:sldId id="347" r:id="rId41"/>
    <p:sldId id="349" r:id="rId42"/>
    <p:sldId id="350" r:id="rId43"/>
    <p:sldId id="351" r:id="rId44"/>
    <p:sldId id="352" r:id="rId45"/>
    <p:sldId id="353" r:id="rId46"/>
    <p:sldId id="354" r:id="rId47"/>
    <p:sldId id="355" r:id="rId48"/>
    <p:sldId id="388" r:id="rId49"/>
    <p:sldId id="356" r:id="rId50"/>
    <p:sldId id="357" r:id="rId51"/>
    <p:sldId id="361" r:id="rId52"/>
    <p:sldId id="358" r:id="rId53"/>
    <p:sldId id="359" r:id="rId54"/>
    <p:sldId id="360" r:id="rId55"/>
    <p:sldId id="362" r:id="rId56"/>
    <p:sldId id="363" r:id="rId57"/>
    <p:sldId id="364" r:id="rId58"/>
    <p:sldId id="365" r:id="rId59"/>
    <p:sldId id="366" r:id="rId60"/>
    <p:sldId id="367" r:id="rId61"/>
    <p:sldId id="368" r:id="rId62"/>
    <p:sldId id="369" r:id="rId63"/>
    <p:sldId id="370" r:id="rId64"/>
    <p:sldId id="371" r:id="rId65"/>
    <p:sldId id="372" r:id="rId66"/>
    <p:sldId id="373" r:id="rId67"/>
    <p:sldId id="374" r:id="rId68"/>
    <p:sldId id="375" r:id="rId69"/>
    <p:sldId id="376" r:id="rId70"/>
    <p:sldId id="378" r:id="rId71"/>
    <p:sldId id="377" r:id="rId72"/>
    <p:sldId id="379" r:id="rId73"/>
    <p:sldId id="380" r:id="rId74"/>
    <p:sldId id="381" r:id="rId75"/>
    <p:sldId id="382" r:id="rId76"/>
    <p:sldId id="383" r:id="rId77"/>
    <p:sldId id="384" r:id="rId78"/>
  </p:sldIdLst>
  <p:sldSz cx="12192000" cy="6858000"/>
  <p:notesSz cx="6858000" cy="9144000"/>
  <p:defaultTextStyle>
    <a:defPPr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59C3123-D8EE-2047-9A95-6A8E2D75F69A}" v="2" dt="2023-09-27T19:13:55.3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709" autoAdjust="0"/>
    <p:restoredTop sz="94699"/>
  </p:normalViewPr>
  <p:slideViewPr>
    <p:cSldViewPr snapToGrid="0">
      <p:cViewPr varScale="1">
        <p:scale>
          <a:sx n="100" d="100"/>
          <a:sy n="100" d="100"/>
        </p:scale>
        <p:origin x="56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microsoft.com/office/2015/10/relationships/revisionInfo" Target="revisionInfo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96DA7F-D387-4CEC-B603-32B5F893D45E}" type="datetimeFigureOut">
              <a:rPr lang="fi-FI" smtClean="0"/>
              <a:t>4.9.2026</a:t>
            </a:fld>
            <a:endParaRPr lang="fi-FI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i-FI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i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82401F-DEEF-4E68-BF9A-3D7DDE8DBAE7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1571056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i-FI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B2BD3-7A5D-4EAF-BC2A-F01201BC0A58}" type="datetimeFigureOut">
              <a:rPr lang="fi-FI" smtClean="0"/>
              <a:t>4.9.2026</a:t>
            </a:fld>
            <a:endParaRPr lang="fi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A3AF-6B59-4E1D-89BC-147C79812D2C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9835107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B2BD3-7A5D-4EAF-BC2A-F01201BC0A58}" type="datetimeFigureOut">
              <a:rPr lang="fi-FI" smtClean="0"/>
              <a:t>4.9.2026</a:t>
            </a:fld>
            <a:endParaRPr lang="fi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A3AF-6B59-4E1D-89BC-147C79812D2C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264354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B2BD3-7A5D-4EAF-BC2A-F01201BC0A58}" type="datetimeFigureOut">
              <a:rPr lang="fi-FI" smtClean="0"/>
              <a:t>4.9.2026</a:t>
            </a:fld>
            <a:endParaRPr lang="fi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A3AF-6B59-4E1D-89BC-147C79812D2C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9744920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B2BD3-7A5D-4EAF-BC2A-F01201BC0A58}" type="datetimeFigureOut">
              <a:rPr lang="fi-FI" smtClean="0"/>
              <a:t>4.9.2026</a:t>
            </a:fld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A3AF-6B59-4E1D-89BC-147C79812D2C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576641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B2BD3-7A5D-4EAF-BC2A-F01201BC0A58}" type="datetimeFigureOut">
              <a:rPr lang="fi-FI" smtClean="0"/>
              <a:t>4.9.2026</a:t>
            </a:fld>
            <a:endParaRPr lang="fi-FI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A3AF-6B59-4E1D-89BC-147C79812D2C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486990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B2BD3-7A5D-4EAF-BC2A-F01201BC0A58}" type="datetimeFigureOut">
              <a:rPr lang="fi-FI" smtClean="0"/>
              <a:t>4.9.2026</a:t>
            </a:fld>
            <a:endParaRPr lang="fi-FI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A3AF-6B59-4E1D-89BC-147C79812D2C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526848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B2BD3-7A5D-4EAF-BC2A-F01201BC0A58}" type="datetimeFigureOut">
              <a:rPr lang="fi-FI" smtClean="0"/>
              <a:t>4.9.2026</a:t>
            </a:fld>
            <a:endParaRPr lang="fi-FI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A3AF-6B59-4E1D-89BC-147C79812D2C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005497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B2BD3-7A5D-4EAF-BC2A-F01201BC0A58}" type="datetimeFigureOut">
              <a:rPr lang="fi-FI" smtClean="0"/>
              <a:t>4.9.2026</a:t>
            </a:fld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A3AF-6B59-4E1D-89BC-147C79812D2C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506441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i-FI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B2BD3-7A5D-4EAF-BC2A-F01201BC0A58}" type="datetimeFigureOut">
              <a:rPr lang="fi-FI" smtClean="0"/>
              <a:t>4.9.2026</a:t>
            </a:fld>
            <a:endParaRPr lang="fi-FI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A3AF-6B59-4E1D-89BC-147C79812D2C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720653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B2BD3-7A5D-4EAF-BC2A-F01201BC0A58}" type="datetimeFigureOut">
              <a:rPr lang="fi-FI" smtClean="0"/>
              <a:t>4.9.2026</a:t>
            </a:fld>
            <a:endParaRPr lang="fi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A3AF-6B59-4E1D-89BC-147C79812D2C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137630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1B2BD3-7A5D-4EAF-BC2A-F01201BC0A58}" type="datetimeFigureOut">
              <a:rPr lang="fi-FI" smtClean="0"/>
              <a:t>4.9.2026</a:t>
            </a:fld>
            <a:endParaRPr lang="fi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9A3AF-6B59-4E1D-89BC-147C79812D2C}" type="slidenum">
              <a:rPr lang="fi-FI" smtClean="0"/>
              <a:t>‹#›</a:t>
            </a:fld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226845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i-FI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i-FI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11B2BD3-7A5D-4EAF-BC2A-F01201BC0A58}" type="datetimeFigureOut">
              <a:rPr lang="fi-FI" smtClean="0"/>
              <a:t>4.9.2026</a:t>
            </a:fld>
            <a:endParaRPr lang="fi-FI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i-FI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99A3AF-6B59-4E1D-89BC-147C79812D2C}" type="slidenum">
              <a:rPr lang="fi-FI" smtClean="0"/>
              <a:t>‹#›</a:t>
            </a:fld>
            <a:endParaRPr lang="fi-FI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D90861A-270D-615E-86AF-AB5E83612C7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10094913" y="63500"/>
            <a:ext cx="205898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fi-FI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Luottamuksellinen - Confidential (3Y)</a:t>
            </a:r>
          </a:p>
        </p:txBody>
      </p:sp>
    </p:spTree>
    <p:extLst>
      <p:ext uri="{BB962C8B-B14F-4D97-AF65-F5344CB8AC3E}">
        <p14:creationId xmlns:p14="http://schemas.microsoft.com/office/powerpoint/2010/main" val="552659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i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lpemake/selainohj24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fullstackopen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fullstackopen.com/osa0/web_sovelluksen_toimintaperiaatteita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fullstackopen.com/osa1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fullstackopen.com/osa1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hyperlink" Target="https://fullstackopen.com/osa1/java_scriptia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fullstack-hy2020/part2-notes-frontend/tree/part2-1/src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fullstack-hy2020/part2-notes-frontend/tree/part2-2" TargetMode="Externa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hyperlink" Target="http://localhost:3001/notes" TargetMode="Externa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fullstack-hy2020/part2-notes-frontend/tree/part2-3" TargetMode="Externa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fullstack-hy2020/part2-notes-frontend/tree/part2-5" TargetMode="External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i-FI" dirty="0"/>
              <a:t>Selainohjelmointi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i-FI" dirty="0"/>
              <a:t>Tämä ohje on tehty sivuston fullstackopen.com mukaan</a:t>
            </a:r>
          </a:p>
          <a:p>
            <a:r>
              <a:rPr lang="fi-FI">
                <a:hlinkClick r:id="rId2"/>
              </a:rPr>
              <a:t>https://github.com/lpemake/selainohj24</a:t>
            </a:r>
            <a:r>
              <a:rPr lang="fi-FI"/>
              <a:t> 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28294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Selainohjelmointi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Opiskellaan </a:t>
            </a:r>
            <a:r>
              <a:rPr lang="fi-FI" dirty="0" err="1"/>
              <a:t>Reactin</a:t>
            </a:r>
            <a:r>
              <a:rPr lang="fi-FI" dirty="0"/>
              <a:t> alkeita Helsingin yliopiston (HY) materiaalin mukaan</a:t>
            </a:r>
          </a:p>
          <a:p>
            <a:pPr lvl="1"/>
            <a:r>
              <a:rPr lang="fi-FI" dirty="0">
                <a:hlinkClick r:id="rId2"/>
              </a:rPr>
              <a:t>https://fullstackopen.com/</a:t>
            </a:r>
            <a:r>
              <a:rPr lang="fi-FI" dirty="0"/>
              <a:t> </a:t>
            </a:r>
          </a:p>
          <a:p>
            <a:r>
              <a:rPr lang="fi-FI" dirty="0"/>
              <a:t> HY: kurssilla puhutaan ns. </a:t>
            </a:r>
            <a:r>
              <a:rPr lang="fi-FI" dirty="0" err="1"/>
              <a:t>Fullstack</a:t>
            </a:r>
            <a:r>
              <a:rPr lang="fi-FI" dirty="0"/>
              <a:t> </a:t>
            </a:r>
            <a:r>
              <a:rPr lang="fi-FI" dirty="0" err="1"/>
              <a:t>developmentista</a:t>
            </a:r>
            <a:r>
              <a:rPr lang="fi-FI" dirty="0"/>
              <a:t>. Se tarkoittaa, että ohjelmistosuunnittelija tekee sekä </a:t>
            </a:r>
            <a:r>
              <a:rPr lang="fi-FI" dirty="0" err="1"/>
              <a:t>frontend</a:t>
            </a:r>
            <a:r>
              <a:rPr lang="fi-FI" dirty="0"/>
              <a:t>- että </a:t>
            </a:r>
            <a:r>
              <a:rPr lang="fi-FI" dirty="0" err="1"/>
              <a:t>backend</a:t>
            </a:r>
            <a:r>
              <a:rPr lang="fi-FI" dirty="0"/>
              <a:t>-kehitystä. (Selainohjelmointi, palvelinohjelmointi, tietokannat, ohjelmistotuotannon ympäristöt…)</a:t>
            </a:r>
          </a:p>
          <a:p>
            <a:r>
              <a:rPr lang="fi-FI" dirty="0"/>
              <a:t>Käydään </a:t>
            </a:r>
            <a:r>
              <a:rPr lang="fi-FI" dirty="0" err="1"/>
              <a:t>Reactista</a:t>
            </a:r>
            <a:r>
              <a:rPr lang="fi-FI" dirty="0"/>
              <a:t> perusasiat läpi. Samalla opiskellaan myös palvelinsovellusten alkeita </a:t>
            </a:r>
            <a:r>
              <a:rPr lang="fi-FI" dirty="0" err="1"/>
              <a:t>Node.js:llä</a:t>
            </a:r>
            <a:r>
              <a:rPr lang="fi-FI" dirty="0"/>
              <a:t>. Varsinainen palvelinohjelmoinnin kurssi on myöhemmin.</a:t>
            </a:r>
          </a:p>
        </p:txBody>
      </p:sp>
    </p:spTree>
    <p:extLst>
      <p:ext uri="{BB962C8B-B14F-4D97-AF65-F5344CB8AC3E}">
        <p14:creationId xmlns:p14="http://schemas.microsoft.com/office/powerpoint/2010/main" val="10965216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58A825-62A3-7906-7EBA-0912533467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Kurssin suoritus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9D43B-D3CC-4FC7-96D7-E833EC3F5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i-FI" dirty="0"/>
              <a:t>Kurssin suoritus koostuu seuraavista osista</a:t>
            </a:r>
          </a:p>
          <a:p>
            <a:pPr lvl="1"/>
            <a:r>
              <a:rPr lang="fi-FI" dirty="0"/>
              <a:t>Aktiivinen osallistuminen tunneille</a:t>
            </a:r>
          </a:p>
          <a:p>
            <a:pPr lvl="1"/>
            <a:r>
              <a:rPr lang="fi-FI" dirty="0" err="1"/>
              <a:t>Fullstackopen</a:t>
            </a:r>
            <a:r>
              <a:rPr lang="fi-FI" dirty="0"/>
              <a:t> materiaalin lukeminen ja esimerkkien tekeminen</a:t>
            </a:r>
          </a:p>
          <a:p>
            <a:pPr lvl="2"/>
            <a:r>
              <a:rPr lang="fi-FI" dirty="0"/>
              <a:t>Materiaalissa esitetyt malliratkaisut kannattaa myös ajaa itse. Tätä tehdään myös yhdessä tunneilla</a:t>
            </a:r>
          </a:p>
          <a:p>
            <a:pPr lvl="1"/>
            <a:r>
              <a:rPr lang="fi-FI" dirty="0"/>
              <a:t>Harjoitukset</a:t>
            </a:r>
          </a:p>
          <a:p>
            <a:pPr lvl="2"/>
            <a:r>
              <a:rPr lang="fi-FI" dirty="0"/>
              <a:t>Materiaalissa on harjoituksia, jotka kannattaa tehdä itsenäisesti. Harjoituksia tehdään myös yhdessä.</a:t>
            </a:r>
          </a:p>
          <a:p>
            <a:pPr lvl="1"/>
            <a:r>
              <a:rPr lang="fi-FI" dirty="0"/>
              <a:t>Harjoitustyön tekeminen</a:t>
            </a:r>
          </a:p>
          <a:p>
            <a:pPr lvl="2"/>
            <a:r>
              <a:rPr lang="fi-FI" dirty="0"/>
              <a:t>Asiaa ei opi kunnolla, jos tekee vain harjoitukset. Materiaalista opittuja asioita kannattaa soveltaa omaan harjoitustyöhön. </a:t>
            </a:r>
          </a:p>
          <a:p>
            <a:pPr lvl="1"/>
            <a:r>
              <a:rPr lang="fi-FI" b="1" dirty="0"/>
              <a:t>Tentti</a:t>
            </a:r>
          </a:p>
          <a:p>
            <a:pPr lvl="2"/>
            <a:r>
              <a:rPr lang="fi-FI" dirty="0" err="1"/>
              <a:t>Github</a:t>
            </a:r>
            <a:r>
              <a:rPr lang="fi-FI" dirty="0"/>
              <a:t> </a:t>
            </a:r>
            <a:r>
              <a:rPr lang="fi-FI" dirty="0" err="1"/>
              <a:t>copilot</a:t>
            </a:r>
            <a:r>
              <a:rPr lang="fi-FI" dirty="0"/>
              <a:t> osaa lähes kaikki ohjelmoinnin koulutehtävät, siksi tentti.</a:t>
            </a:r>
          </a:p>
          <a:p>
            <a:pPr lvl="2"/>
            <a:r>
              <a:rPr lang="fi-FI" dirty="0"/>
              <a:t>Tentissä saa käyttää ainoastaan </a:t>
            </a:r>
            <a:r>
              <a:rPr lang="fi-FI" dirty="0" err="1"/>
              <a:t>Fillstackopen</a:t>
            </a:r>
            <a:r>
              <a:rPr lang="fi-FI" dirty="0"/>
              <a:t>-materiaalia. Googlea ei saa enää käyttää</a:t>
            </a:r>
          </a:p>
        </p:txBody>
      </p:sp>
    </p:spTree>
    <p:extLst>
      <p:ext uri="{BB962C8B-B14F-4D97-AF65-F5344CB8AC3E}">
        <p14:creationId xmlns:p14="http://schemas.microsoft.com/office/powerpoint/2010/main" val="23140021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52D23-D444-563B-05D5-F9ED2AB00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Arviointi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07EAC6-464D-2040-8B58-2F5293DE4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Arviointi tehdään tällä perusteella</a:t>
            </a:r>
          </a:p>
          <a:p>
            <a:pPr lvl="1"/>
            <a:r>
              <a:rPr lang="fi-FI" dirty="0"/>
              <a:t>Tehtävät 10 %</a:t>
            </a:r>
          </a:p>
          <a:p>
            <a:pPr lvl="1"/>
            <a:r>
              <a:rPr lang="fi-FI" dirty="0"/>
              <a:t>Harjoitustyö 20 %</a:t>
            </a:r>
          </a:p>
          <a:p>
            <a:pPr lvl="1"/>
            <a:r>
              <a:rPr lang="fi-FI"/>
              <a:t>Tentti 70 </a:t>
            </a:r>
            <a:r>
              <a:rPr lang="fi-FI" dirty="0"/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2314172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6A7C6-BF38-5F65-94D5-53FE62F607E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i-FI" dirty="0"/>
              <a:t>Osa 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32DF89-F5E7-4867-9E56-E36D3BC6D67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8510924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Web-sovellusten toiminnan perusteet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i-FI" dirty="0"/>
              <a:t>Aloitetaan osasta 0b, Web-sovellusten toiminnan perusteet.</a:t>
            </a:r>
          </a:p>
          <a:p>
            <a:pPr lvl="1"/>
            <a:r>
              <a:rPr lang="fi-FI" dirty="0">
                <a:hlinkClick r:id="rId2"/>
              </a:rPr>
              <a:t>https://fullstackopen.com/osa0/web_sovelluksen_toimintaperiaatteita</a:t>
            </a:r>
            <a:r>
              <a:rPr lang="fi-FI" dirty="0"/>
              <a:t> </a:t>
            </a:r>
          </a:p>
          <a:p>
            <a:r>
              <a:rPr lang="fi-FI" dirty="0"/>
              <a:t>Käydään seuraavat kohdat HY:n materiaalin perusteella</a:t>
            </a:r>
          </a:p>
          <a:p>
            <a:pPr lvl="1"/>
            <a:r>
              <a:rPr lang="fi-FI" dirty="0"/>
              <a:t>Web-sovelluksen toimintaperiaatteita: </a:t>
            </a:r>
            <a:r>
              <a:rPr lang="fi-FI" dirty="0" err="1"/>
              <a:t>Developer</a:t>
            </a:r>
            <a:r>
              <a:rPr lang="fi-FI" dirty="0"/>
              <a:t>-konsoli</a:t>
            </a:r>
          </a:p>
          <a:p>
            <a:pPr lvl="1"/>
            <a:r>
              <a:rPr lang="fi-FI" dirty="0"/>
              <a:t>HTTP GET</a:t>
            </a:r>
          </a:p>
          <a:p>
            <a:pPr lvl="1"/>
            <a:r>
              <a:rPr lang="fi-FI" dirty="0"/>
              <a:t>Perinteinen web-sovellus</a:t>
            </a:r>
          </a:p>
          <a:p>
            <a:pPr lvl="1"/>
            <a:r>
              <a:rPr lang="fi-FI" dirty="0"/>
              <a:t>Selaimessa suoritettava sovelluslogiikka</a:t>
            </a:r>
          </a:p>
          <a:p>
            <a:pPr lvl="1"/>
            <a:r>
              <a:rPr lang="fi-FI" dirty="0"/>
              <a:t>Tapahtumankäsittelijä ja takaisinkutsu</a:t>
            </a:r>
          </a:p>
          <a:p>
            <a:pPr lvl="1"/>
            <a:r>
              <a:rPr lang="fi-FI" dirty="0" err="1"/>
              <a:t>Document</a:t>
            </a:r>
            <a:r>
              <a:rPr lang="fi-FI" dirty="0"/>
              <a:t> Object </a:t>
            </a:r>
            <a:r>
              <a:rPr lang="fi-FI" dirty="0" err="1"/>
              <a:t>Model</a:t>
            </a:r>
            <a:r>
              <a:rPr lang="fi-FI" dirty="0"/>
              <a:t> eli DOM</a:t>
            </a:r>
          </a:p>
          <a:p>
            <a:pPr lvl="1"/>
            <a:r>
              <a:rPr lang="fi-FI" dirty="0" err="1"/>
              <a:t>document</a:t>
            </a:r>
            <a:r>
              <a:rPr lang="fi-FI" dirty="0"/>
              <a:t>-olio ja sivun manipulointi konsolista</a:t>
            </a:r>
          </a:p>
          <a:p>
            <a:pPr lvl="1"/>
            <a:r>
              <a:rPr lang="fi-FI" dirty="0"/>
              <a:t>CSS</a:t>
            </a:r>
          </a:p>
          <a:p>
            <a:pPr lvl="1"/>
            <a:r>
              <a:rPr lang="fi-FI" dirty="0" err="1"/>
              <a:t>JavaScriptia</a:t>
            </a:r>
            <a:r>
              <a:rPr lang="fi-FI" dirty="0"/>
              <a:t> sisältävän sivun lataaminen – kertaus</a:t>
            </a:r>
          </a:p>
          <a:p>
            <a:pPr lvl="1"/>
            <a:endParaRPr lang="fi-FI" dirty="0"/>
          </a:p>
          <a:p>
            <a:pPr lvl="1"/>
            <a:r>
              <a:rPr lang="fi-FI" dirty="0"/>
              <a:t>Full </a:t>
            </a:r>
            <a:r>
              <a:rPr lang="fi-FI" dirty="0" err="1"/>
              <a:t>stack</a:t>
            </a:r>
            <a:r>
              <a:rPr lang="fi-FI" dirty="0"/>
              <a:t> ‑websovelluskehitys</a:t>
            </a:r>
          </a:p>
          <a:p>
            <a:pPr lvl="1"/>
            <a:r>
              <a:rPr lang="fi-FI" dirty="0"/>
              <a:t>JavaScript </a:t>
            </a:r>
            <a:r>
              <a:rPr lang="fi-FI" dirty="0" err="1"/>
              <a:t>fatigue</a:t>
            </a:r>
            <a:endParaRPr lang="fi-FI" dirty="0"/>
          </a:p>
          <a:p>
            <a:pPr marL="457200" lvl="1" indent="0">
              <a:buNone/>
            </a:pP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746536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i-FI" dirty="0" err="1"/>
              <a:t>Reactin</a:t>
            </a:r>
            <a:r>
              <a:rPr lang="fi-FI" dirty="0"/>
              <a:t> alkeet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028843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Reactin</a:t>
            </a:r>
            <a:r>
              <a:rPr lang="fi-FI" dirty="0"/>
              <a:t> alkeet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Opiskellaan </a:t>
            </a:r>
            <a:r>
              <a:rPr lang="fi-FI" dirty="0" err="1"/>
              <a:t>Reactin</a:t>
            </a:r>
            <a:r>
              <a:rPr lang="fi-FI" dirty="0"/>
              <a:t> alkeita Helsingin yliopiston materiaalin mukaan</a:t>
            </a:r>
          </a:p>
          <a:p>
            <a:r>
              <a:rPr lang="fi-FI" dirty="0"/>
              <a:t>Aloitetaan kohdan osa 1 alusta</a:t>
            </a:r>
          </a:p>
          <a:p>
            <a:pPr lvl="1"/>
            <a:r>
              <a:rPr lang="fi-FI" dirty="0">
                <a:hlinkClick r:id="rId2"/>
              </a:rPr>
              <a:t>https://fullstackopen.com/osa1</a:t>
            </a:r>
            <a:r>
              <a:rPr lang="fi-FI" dirty="0"/>
              <a:t>  </a:t>
            </a:r>
          </a:p>
          <a:p>
            <a:pPr lvl="1"/>
            <a:endParaRPr lang="fi-FI" dirty="0"/>
          </a:p>
          <a:p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5751204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Reactin</a:t>
            </a:r>
            <a:r>
              <a:rPr lang="fi-FI" dirty="0"/>
              <a:t> alkeet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 err="1"/>
              <a:t>Reactilla</a:t>
            </a:r>
            <a:r>
              <a:rPr lang="fi-FI" dirty="0"/>
              <a:t> toteutetaan </a:t>
            </a:r>
            <a:r>
              <a:rPr lang="fi-FI" dirty="0" err="1"/>
              <a:t>web</a:t>
            </a:r>
            <a:r>
              <a:rPr lang="fi-FI" dirty="0"/>
              <a:t>-sovellusten selainpuolen logiikka</a:t>
            </a:r>
          </a:p>
          <a:p>
            <a:r>
              <a:rPr lang="fi-FI" dirty="0" err="1"/>
              <a:t>React</a:t>
            </a:r>
            <a:r>
              <a:rPr lang="fi-FI" dirty="0"/>
              <a:t> on Facebookin kehittämä</a:t>
            </a:r>
          </a:p>
          <a:p>
            <a:r>
              <a:rPr lang="fi-FI" dirty="0" err="1"/>
              <a:t>React</a:t>
            </a:r>
            <a:r>
              <a:rPr lang="fi-FI" dirty="0"/>
              <a:t> on tällä hetkellä suosittu, mutta esimerkiksi </a:t>
            </a:r>
            <a:r>
              <a:rPr lang="fi-FI" dirty="0" err="1"/>
              <a:t>VueJS:stä</a:t>
            </a:r>
            <a:r>
              <a:rPr lang="fi-FI" dirty="0"/>
              <a:t> saattaa tulla sen kilpailija</a:t>
            </a:r>
          </a:p>
          <a:p>
            <a:r>
              <a:rPr lang="fi-FI" dirty="0"/>
              <a:t>AI tekee erittäin hyvin </a:t>
            </a:r>
            <a:r>
              <a:rPr lang="fi-FI" dirty="0" err="1"/>
              <a:t>frontend</a:t>
            </a:r>
            <a:r>
              <a:rPr lang="fi-FI" dirty="0"/>
              <a:t>-koodia</a:t>
            </a:r>
          </a:p>
        </p:txBody>
      </p:sp>
    </p:spTree>
    <p:extLst>
      <p:ext uri="{BB962C8B-B14F-4D97-AF65-F5344CB8AC3E}">
        <p14:creationId xmlns:p14="http://schemas.microsoft.com/office/powerpoint/2010/main" val="17882423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Reactin</a:t>
            </a:r>
            <a:r>
              <a:rPr lang="fi-FI" dirty="0"/>
              <a:t> alkeet – sovelluksen luominen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i-FI" dirty="0"/>
              <a:t>Aloita luvusta </a:t>
            </a:r>
            <a:r>
              <a:rPr lang="fi-FI" dirty="0">
                <a:hlinkClick r:id="rId2"/>
              </a:rPr>
              <a:t>https://fullstackopen.com/osa1</a:t>
            </a:r>
            <a:r>
              <a:rPr lang="fi-FI" dirty="0"/>
              <a:t>  kohdasta </a:t>
            </a:r>
            <a:r>
              <a:rPr lang="fi-FI" dirty="0" err="1"/>
              <a:t>React</a:t>
            </a:r>
            <a:endParaRPr lang="fi-FI" dirty="0"/>
          </a:p>
          <a:p>
            <a:r>
              <a:rPr lang="fi-FI" dirty="0"/>
              <a:t>Luo sovellus ohjeen mukaan</a:t>
            </a:r>
          </a:p>
          <a:p>
            <a:pPr lvl="1"/>
            <a:r>
              <a:rPr lang="en-US" dirty="0" err="1"/>
              <a:t>npm</a:t>
            </a:r>
            <a:r>
              <a:rPr lang="en-US" dirty="0"/>
              <a:t> create </a:t>
            </a:r>
            <a:r>
              <a:rPr lang="en-US" dirty="0" err="1"/>
              <a:t>vite@latest</a:t>
            </a:r>
            <a:r>
              <a:rPr lang="en-US" dirty="0"/>
              <a:t> part1 -- --template react</a:t>
            </a:r>
          </a:p>
          <a:p>
            <a:pPr lvl="1"/>
            <a:r>
              <a:rPr lang="en-US" dirty="0"/>
              <a:t>cd part1</a:t>
            </a:r>
          </a:p>
          <a:p>
            <a:pPr lvl="1"/>
            <a:r>
              <a:rPr lang="en-US" dirty="0" err="1"/>
              <a:t>npm</a:t>
            </a:r>
            <a:r>
              <a:rPr lang="en-US" dirty="0"/>
              <a:t> install</a:t>
            </a:r>
          </a:p>
          <a:p>
            <a:pPr lvl="1"/>
            <a:r>
              <a:rPr lang="en-US" dirty="0" err="1"/>
              <a:t>npm</a:t>
            </a:r>
            <a:r>
              <a:rPr lang="en-US" dirty="0"/>
              <a:t> run dev</a:t>
            </a:r>
          </a:p>
          <a:p>
            <a:pPr lvl="1"/>
            <a:r>
              <a:rPr lang="en-US" dirty="0"/>
              <a:t>Avaa </a:t>
            </a:r>
            <a:r>
              <a:rPr lang="en-US" dirty="0" err="1"/>
              <a:t>selain</a:t>
            </a:r>
            <a:r>
              <a:rPr lang="en-US" dirty="0"/>
              <a:t> ja anna </a:t>
            </a:r>
            <a:r>
              <a:rPr lang="en-US" dirty="0" err="1"/>
              <a:t>osoite</a:t>
            </a:r>
            <a:r>
              <a:rPr lang="en-US" dirty="0"/>
              <a:t> http://localhost:5173/</a:t>
            </a:r>
          </a:p>
          <a:p>
            <a:pPr lvl="1"/>
            <a:endParaRPr lang="en-US" dirty="0"/>
          </a:p>
          <a:p>
            <a:r>
              <a:rPr lang="fi-FI" dirty="0"/>
              <a:t>Tee kaikki esimerkit Visual Studio </a:t>
            </a:r>
            <a:r>
              <a:rPr lang="fi-FI" dirty="0" err="1"/>
              <a:t>Codella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931513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2A4B8743-A5C0-DB36-4CCE-8CB1950FE3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Reactin</a:t>
            </a:r>
            <a:r>
              <a:rPr lang="fi-FI" dirty="0"/>
              <a:t> alkeet – </a:t>
            </a:r>
            <a:r>
              <a:rPr lang="fi-FI" dirty="0" err="1"/>
              <a:t>main.jsx</a:t>
            </a:r>
            <a:r>
              <a:rPr lang="fi-FI" dirty="0"/>
              <a:t> ja </a:t>
            </a:r>
            <a:r>
              <a:rPr lang="fi-FI" dirty="0" err="1"/>
              <a:t>App.jsx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6288FF82-DE77-8F4D-DDA6-A1E7332CDA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06307"/>
            <a:ext cx="10405056" cy="1027045"/>
          </a:xfrm>
        </p:spPr>
        <p:txBody>
          <a:bodyPr>
            <a:normAutofit/>
          </a:bodyPr>
          <a:lstStyle/>
          <a:p>
            <a:r>
              <a:rPr lang="fi-FI" sz="2000" dirty="0"/>
              <a:t>Yksinkertaistetaan koodia seuraavaksi. Koodi löytyy hakemistosta </a:t>
            </a:r>
            <a:r>
              <a:rPr lang="fi-FI" sz="2000" i="1" dirty="0" err="1"/>
              <a:t>src</a:t>
            </a:r>
            <a:r>
              <a:rPr lang="fi-FI" sz="2000" dirty="0"/>
              <a:t>.</a:t>
            </a:r>
          </a:p>
          <a:p>
            <a:r>
              <a:rPr lang="fi-FI" sz="2000" dirty="0"/>
              <a:t>Korvaa </a:t>
            </a:r>
            <a:r>
              <a:rPr lang="fi-FI" sz="2000" dirty="0" err="1"/>
              <a:t>main.jsx</a:t>
            </a:r>
            <a:r>
              <a:rPr lang="fi-FI" sz="2000" dirty="0"/>
              <a:t> tiedoston sisältö seuraavalla koodilla:</a:t>
            </a:r>
          </a:p>
          <a:p>
            <a:endParaRPr lang="fi-FI" sz="2000" dirty="0"/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90468416-5451-25DB-C9FF-BD165704F90F}"/>
              </a:ext>
            </a:extLst>
          </p:cNvPr>
          <p:cNvSpPr txBox="1"/>
          <p:nvPr/>
        </p:nvSpPr>
        <p:spPr>
          <a:xfrm>
            <a:off x="1654936" y="2669551"/>
            <a:ext cx="7814960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ReactDOM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i-FI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react-dom</a:t>
            </a:r>
            <a:r>
              <a:rPr lang="fi-FI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fi-FI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client</a:t>
            </a:r>
            <a:r>
              <a:rPr lang="fi-FI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endParaRPr lang="fi-FI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'./</a:t>
            </a:r>
            <a:r>
              <a:rPr lang="fi-FI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fi-FI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endParaRPr lang="fi-FI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ReactDOM.createRoot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document.getElementById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i-FI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i-FI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root</a:t>
            </a:r>
            <a:r>
              <a:rPr lang="fi-FI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)).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render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i-FI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i-FI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" name="Sisällön paikkamerkki 2">
            <a:extLst>
              <a:ext uri="{FF2B5EF4-FFF2-40B4-BE49-F238E27FC236}">
                <a16:creationId xmlns:a16="http://schemas.microsoft.com/office/drawing/2014/main" id="{769CDABB-1896-775A-48E2-DDC42380B1A7}"/>
              </a:ext>
            </a:extLst>
          </p:cNvPr>
          <p:cNvSpPr txBox="1">
            <a:spLocks/>
          </p:cNvSpPr>
          <p:nvPr/>
        </p:nvSpPr>
        <p:spPr>
          <a:xfrm>
            <a:off x="893472" y="4070842"/>
            <a:ext cx="10405056" cy="5075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fi-FI" sz="2000" dirty="0" err="1"/>
              <a:t>App.jsx</a:t>
            </a:r>
            <a:endParaRPr lang="fi-FI" sz="2000" dirty="0"/>
          </a:p>
          <a:p>
            <a:endParaRPr lang="fi-FI" sz="2000" dirty="0"/>
          </a:p>
        </p:txBody>
      </p:sp>
      <p:sp>
        <p:nvSpPr>
          <p:cNvPr id="8" name="Tekstiruutu 7">
            <a:extLst>
              <a:ext uri="{FF2B5EF4-FFF2-40B4-BE49-F238E27FC236}">
                <a16:creationId xmlns:a16="http://schemas.microsoft.com/office/drawing/2014/main" id="{EF5F483F-8AD1-C1CA-7FAA-F95DE6DD98A4}"/>
              </a:ext>
            </a:extLst>
          </p:cNvPr>
          <p:cNvSpPr txBox="1"/>
          <p:nvPr/>
        </p:nvSpPr>
        <p:spPr>
          <a:xfrm>
            <a:off x="1654936" y="4578439"/>
            <a:ext cx="403752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App = ()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 world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App</a:t>
            </a:r>
          </a:p>
        </p:txBody>
      </p:sp>
    </p:spTree>
    <p:extLst>
      <p:ext uri="{BB962C8B-B14F-4D97-AF65-F5344CB8AC3E}">
        <p14:creationId xmlns:p14="http://schemas.microsoft.com/office/powerpoint/2010/main" val="11962617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14C1B75A-413A-F614-30DB-73BD1D965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Reactin</a:t>
            </a:r>
            <a:r>
              <a:rPr lang="fi-FI" dirty="0"/>
              <a:t> alkeet – </a:t>
            </a:r>
            <a:r>
              <a:rPr lang="fi-FI" dirty="0" err="1"/>
              <a:t>main.jsx</a:t>
            </a:r>
            <a:r>
              <a:rPr lang="fi-FI" dirty="0"/>
              <a:t> ja </a:t>
            </a:r>
            <a:r>
              <a:rPr lang="fi-FI" dirty="0" err="1"/>
              <a:t>App.jsx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B09AE405-71C2-33CA-C899-149E1930D1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7942" y="1786879"/>
            <a:ext cx="10515600" cy="4351338"/>
          </a:xfrm>
        </p:spPr>
        <p:txBody>
          <a:bodyPr/>
          <a:lstStyle/>
          <a:p>
            <a:r>
              <a:rPr lang="fi-FI" dirty="0">
                <a:solidFill>
                  <a:srgbClr val="33332D"/>
                </a:solidFill>
                <a:latin typeface="IBM Plex Sans" panose="020B0503050203000203" pitchFamily="34" charset="0"/>
              </a:rPr>
              <a:t>Tallenna tiedostot</a:t>
            </a:r>
          </a:p>
          <a:p>
            <a:r>
              <a:rPr lang="fi-FI" dirty="0">
                <a:solidFill>
                  <a:srgbClr val="33332D"/>
                </a:solidFill>
                <a:latin typeface="IBM Plex Sans" panose="020B0503050203000203" pitchFamily="34" charset="0"/>
              </a:rPr>
              <a:t>Poista tiedostot </a:t>
            </a:r>
            <a:r>
              <a:rPr lang="fi-FI" b="0" i="1" dirty="0">
                <a:solidFill>
                  <a:srgbClr val="33332D"/>
                </a:solidFill>
                <a:effectLst/>
                <a:latin typeface="IBM Plex Sans" panose="020B0503050203000203" pitchFamily="34" charset="0"/>
              </a:rPr>
              <a:t>App.css</a:t>
            </a:r>
            <a:r>
              <a:rPr lang="fi-FI" b="0" i="0" dirty="0">
                <a:solidFill>
                  <a:srgbClr val="33332D"/>
                </a:solidFill>
                <a:effectLst/>
                <a:latin typeface="IBM Plex Sans" panose="020B0503050203000203" pitchFamily="34" charset="0"/>
              </a:rPr>
              <a:t> ja </a:t>
            </a:r>
            <a:r>
              <a:rPr lang="fi-FI" b="0" i="1" dirty="0">
                <a:solidFill>
                  <a:srgbClr val="33332D"/>
                </a:solidFill>
                <a:effectLst/>
                <a:latin typeface="IBM Plex Sans" panose="020B0503050203000203" pitchFamily="34" charset="0"/>
              </a:rPr>
              <a:t>index.css</a:t>
            </a:r>
            <a:r>
              <a:rPr lang="fi-FI" b="0" i="0" dirty="0">
                <a:solidFill>
                  <a:srgbClr val="33332D"/>
                </a:solidFill>
                <a:effectLst/>
                <a:latin typeface="IBM Plex Sans" panose="020B0503050203000203" pitchFamily="34" charset="0"/>
              </a:rPr>
              <a:t> sekä hakemisto </a:t>
            </a:r>
            <a:r>
              <a:rPr lang="fi-FI" b="0" i="1" dirty="0" err="1">
                <a:solidFill>
                  <a:srgbClr val="33332D"/>
                </a:solidFill>
                <a:effectLst/>
                <a:latin typeface="IBM Plex Sans" panose="020B0503050203000203" pitchFamily="34" charset="0"/>
              </a:rPr>
              <a:t>assets</a:t>
            </a:r>
            <a:endParaRPr lang="fi-FI" dirty="0">
              <a:solidFill>
                <a:srgbClr val="33332D"/>
              </a:solidFill>
              <a:latin typeface="IBM Plex Sans" panose="020B0503050203000203" pitchFamily="34" charset="0"/>
            </a:endParaRPr>
          </a:p>
          <a:p>
            <a:r>
              <a:rPr lang="fi-FI" dirty="0">
                <a:solidFill>
                  <a:srgbClr val="33332D"/>
                </a:solidFill>
                <a:latin typeface="IBM Plex Sans" panose="020B0503050203000203" pitchFamily="34" charset="0"/>
              </a:rPr>
              <a:t>Päivitä selain</a:t>
            </a:r>
            <a:endParaRPr lang="fi-FI" dirty="0"/>
          </a:p>
        </p:txBody>
      </p:sp>
      <p:pic>
        <p:nvPicPr>
          <p:cNvPr id="5" name="Kuva 4">
            <a:extLst>
              <a:ext uri="{FF2B5EF4-FFF2-40B4-BE49-F238E27FC236}">
                <a16:creationId xmlns:a16="http://schemas.microsoft.com/office/drawing/2014/main" id="{99297E4E-5DBD-8A2B-57F1-68ED3C3DF4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0974" y="3878572"/>
            <a:ext cx="4517233" cy="1607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39680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79074CA6-8513-FE56-C830-359EC638C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Reactin</a:t>
            </a:r>
            <a:r>
              <a:rPr lang="fi-FI" dirty="0"/>
              <a:t> alkeet – komponentti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4826A76F-F82F-15E1-6EEB-46F642C52E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i-FI" sz="2000" b="0" i="0" dirty="0">
                <a:solidFill>
                  <a:srgbClr val="33332D"/>
                </a:solidFill>
                <a:effectLst/>
                <a:latin typeface="IBM Plex Sans" panose="020F0502020204030204" pitchFamily="34" charset="0"/>
              </a:rPr>
              <a:t>Tiedosto </a:t>
            </a:r>
            <a:r>
              <a:rPr lang="fi-FI" sz="2000" b="0" i="1" dirty="0">
                <a:solidFill>
                  <a:srgbClr val="33332D"/>
                </a:solidFill>
                <a:effectLst/>
                <a:latin typeface="IBM Plex Sans" panose="020F0502020204030204" pitchFamily="34" charset="0"/>
              </a:rPr>
              <a:t>App.js</a:t>
            </a:r>
            <a:r>
              <a:rPr lang="fi-FI" sz="2000" b="0" i="0" dirty="0">
                <a:solidFill>
                  <a:srgbClr val="33332D"/>
                </a:solidFill>
                <a:effectLst/>
                <a:latin typeface="IBM Plex Sans" panose="020F0502020204030204" pitchFamily="34" charset="0"/>
              </a:rPr>
              <a:t> määrittelee nyt </a:t>
            </a:r>
            <a:r>
              <a:rPr lang="fi-FI" sz="2000" b="0" i="0" dirty="0" err="1">
                <a:solidFill>
                  <a:srgbClr val="33332D"/>
                </a:solidFill>
                <a:effectLst/>
                <a:latin typeface="IBM Plex Sans" panose="020F0502020204030204" pitchFamily="34" charset="0"/>
              </a:rPr>
              <a:t>React</a:t>
            </a:r>
            <a:r>
              <a:rPr lang="fi-FI" sz="2000" b="0" i="0" dirty="0">
                <a:solidFill>
                  <a:srgbClr val="33332D"/>
                </a:solidFill>
                <a:effectLst/>
                <a:latin typeface="IBM Plex Sans" panose="020F0502020204030204" pitchFamily="34" charset="0"/>
              </a:rPr>
              <a:t>-</a:t>
            </a:r>
            <a:r>
              <a:rPr lang="fi-FI" sz="2000" dirty="0">
                <a:latin typeface="IBM Plex Sans" panose="020F0502020204030204" pitchFamily="34" charset="0"/>
              </a:rPr>
              <a:t>komponentin </a:t>
            </a:r>
            <a:r>
              <a:rPr lang="fi-FI" sz="2000" b="0" i="1" dirty="0" err="1">
                <a:solidFill>
                  <a:srgbClr val="33332D"/>
                </a:solidFill>
                <a:effectLst/>
                <a:latin typeface="IBM Plex Sans" panose="020F0502020204030204" pitchFamily="34" charset="0"/>
              </a:rPr>
              <a:t>App</a:t>
            </a:r>
            <a:r>
              <a:rPr lang="fi-FI" sz="2000" b="0" i="0" dirty="0">
                <a:solidFill>
                  <a:srgbClr val="33332D"/>
                </a:solidFill>
                <a:effectLst/>
                <a:latin typeface="IBM Plex Sans" panose="020F0502020204030204" pitchFamily="34" charset="0"/>
              </a:rPr>
              <a:t>. </a:t>
            </a:r>
            <a:r>
              <a:rPr lang="fi-FI" sz="2000" dirty="0"/>
              <a:t>Tiedoston </a:t>
            </a:r>
            <a:r>
              <a:rPr lang="fi-FI" sz="2000" i="1" dirty="0" err="1"/>
              <a:t>main.jsx</a:t>
            </a:r>
            <a:r>
              <a:rPr lang="fi-FI" sz="2000" i="1" dirty="0"/>
              <a:t> </a:t>
            </a:r>
            <a:r>
              <a:rPr lang="fi-FI" sz="2000" dirty="0"/>
              <a:t>viimeisen rivin komento </a:t>
            </a:r>
            <a:r>
              <a:rPr lang="fi-FI" sz="2000" dirty="0" err="1"/>
              <a:t>ReactDOM.createRoot</a:t>
            </a:r>
            <a:r>
              <a:rPr lang="fi-FI" sz="2000" dirty="0"/>
              <a:t>() renderöi komponentin sisällön tiedoston index.html määrittelemään div-elementtiin, jonka </a:t>
            </a:r>
            <a:r>
              <a:rPr lang="fi-FI" sz="2000" dirty="0" err="1"/>
              <a:t>id:n</a:t>
            </a:r>
            <a:r>
              <a:rPr lang="fi-FI" sz="2000" dirty="0"/>
              <a:t> arvona on '</a:t>
            </a:r>
            <a:r>
              <a:rPr lang="fi-FI" sz="2000" dirty="0" err="1"/>
              <a:t>root</a:t>
            </a:r>
            <a:r>
              <a:rPr lang="fi-FI" sz="2000" dirty="0"/>
              <a:t>'.</a:t>
            </a:r>
          </a:p>
        </p:txBody>
      </p:sp>
      <p:pic>
        <p:nvPicPr>
          <p:cNvPr id="5" name="Kuva 4">
            <a:extLst>
              <a:ext uri="{FF2B5EF4-FFF2-40B4-BE49-F238E27FC236}">
                <a16:creationId xmlns:a16="http://schemas.microsoft.com/office/drawing/2014/main" id="{CCAA99CD-9EBD-51D2-1B6E-B24F4DE2A2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6771" y="3429000"/>
            <a:ext cx="7027525" cy="2972586"/>
          </a:xfrm>
          <a:prstGeom prst="rect">
            <a:avLst/>
          </a:prstGeom>
        </p:spPr>
      </p:pic>
      <p:sp>
        <p:nvSpPr>
          <p:cNvPr id="6" name="Nuoli: Oikea 5">
            <a:extLst>
              <a:ext uri="{FF2B5EF4-FFF2-40B4-BE49-F238E27FC236}">
                <a16:creationId xmlns:a16="http://schemas.microsoft.com/office/drawing/2014/main" id="{5A64F2A9-EFCE-913F-4106-CBBAA1A9D762}"/>
              </a:ext>
            </a:extLst>
          </p:cNvPr>
          <p:cNvSpPr/>
          <p:nvPr/>
        </p:nvSpPr>
        <p:spPr>
          <a:xfrm>
            <a:off x="4930426" y="5603838"/>
            <a:ext cx="557939" cy="20922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pic>
        <p:nvPicPr>
          <p:cNvPr id="8" name="Kuva 7">
            <a:extLst>
              <a:ext uri="{FF2B5EF4-FFF2-40B4-BE49-F238E27FC236}">
                <a16:creationId xmlns:a16="http://schemas.microsoft.com/office/drawing/2014/main" id="{C7590BAB-E70B-D697-04E3-813CF0BC03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757" y="2866206"/>
            <a:ext cx="7360028" cy="330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93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1C4582C1-8CAA-61A8-F9F2-139A9E522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Reactin</a:t>
            </a:r>
            <a:r>
              <a:rPr lang="fi-FI" dirty="0"/>
              <a:t> alkeet – funktion määrittely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FCCC2030-4431-FCBC-1462-1AD3CEA53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084194" cy="4351338"/>
          </a:xfrm>
        </p:spPr>
        <p:txBody>
          <a:bodyPr>
            <a:normAutofit/>
          </a:bodyPr>
          <a:lstStyle/>
          <a:p>
            <a:r>
              <a:rPr lang="fi-FI" sz="2000" dirty="0">
                <a:solidFill>
                  <a:srgbClr val="33332D"/>
                </a:solidFill>
                <a:latin typeface="IBM Plex Sans" panose="020B0503050203000203" pitchFamily="34" charset="0"/>
              </a:rPr>
              <a:t>K</a:t>
            </a:r>
            <a:r>
              <a:rPr lang="fi-FI" sz="2000" b="0" i="0" dirty="0">
                <a:solidFill>
                  <a:srgbClr val="33332D"/>
                </a:solidFill>
                <a:effectLst/>
                <a:latin typeface="IBM Plex Sans" panose="020B0503050203000203" pitchFamily="34" charset="0"/>
              </a:rPr>
              <a:t>omponentti on määritelty JavaScript-funktiona (harmaalla taustalla oleva osa)</a:t>
            </a:r>
          </a:p>
          <a:p>
            <a:r>
              <a:rPr lang="fi-FI" sz="2000" dirty="0">
                <a:solidFill>
                  <a:srgbClr val="33332D"/>
                </a:solidFill>
                <a:latin typeface="IBM Plex Sans" panose="020B0503050203000203" pitchFamily="34" charset="0"/>
              </a:rPr>
              <a:t>Funktio sijoitetaan vakiomuuttujaan </a:t>
            </a:r>
            <a:r>
              <a:rPr lang="fi-FI" sz="2000" b="0" i="1" dirty="0" err="1">
                <a:solidFill>
                  <a:srgbClr val="33332D"/>
                </a:solidFill>
                <a:effectLst/>
                <a:latin typeface="IBM Plex Sans" panose="020B0503050203000203" pitchFamily="34" charset="0"/>
              </a:rPr>
              <a:t>App</a:t>
            </a:r>
            <a:endParaRPr lang="fi-FI" sz="2000" b="0" i="1" dirty="0">
              <a:solidFill>
                <a:srgbClr val="33332D"/>
              </a:solidFill>
              <a:effectLst/>
              <a:latin typeface="IBM Plex Sans" panose="020B0503050203000203" pitchFamily="34" charset="0"/>
            </a:endParaRPr>
          </a:p>
          <a:p>
            <a:r>
              <a:rPr lang="fi-FI" sz="2000" dirty="0">
                <a:solidFill>
                  <a:srgbClr val="33332D"/>
                </a:solidFill>
                <a:latin typeface="IBM Plex Sans" panose="020B0503050203000203" pitchFamily="34" charset="0"/>
              </a:rPr>
              <a:t>Jos funktiossa on vain yksi lauseke (jonka arvo palautetaan), ei tarvita </a:t>
            </a:r>
            <a:r>
              <a:rPr lang="fi-FI" sz="2000" dirty="0" err="1">
                <a:solidFill>
                  <a:srgbClr val="33332D"/>
                </a:solidFill>
                <a:latin typeface="IBM Plex Sans" panose="020B0503050203000203" pitchFamily="34" charset="0"/>
              </a:rPr>
              <a:t>returnia</a:t>
            </a:r>
            <a:endParaRPr lang="fi-FI" sz="2000" dirty="0">
              <a:solidFill>
                <a:srgbClr val="33332D"/>
              </a:solidFill>
              <a:latin typeface="IBM Plex Sans" panose="020B0503050203000203" pitchFamily="34" charset="0"/>
            </a:endParaRPr>
          </a:p>
          <a:p>
            <a:r>
              <a:rPr lang="fi-FI" sz="2000" dirty="0">
                <a:solidFill>
                  <a:srgbClr val="33332D"/>
                </a:solidFill>
                <a:latin typeface="IBM Plex Sans" panose="020B0503050203000203" pitchFamily="34" charset="0"/>
              </a:rPr>
              <a:t>Alemmassa esimerkissä on kaksi lausetta ja paluuarvossa tarvitaan nyt </a:t>
            </a:r>
            <a:r>
              <a:rPr lang="fi-FI" sz="2000" dirty="0" err="1">
                <a:solidFill>
                  <a:srgbClr val="33332D"/>
                </a:solidFill>
                <a:latin typeface="IBM Plex Sans" panose="020B0503050203000203" pitchFamily="34" charset="0"/>
              </a:rPr>
              <a:t>return</a:t>
            </a:r>
            <a:r>
              <a:rPr lang="fi-FI" sz="2000" dirty="0">
                <a:solidFill>
                  <a:srgbClr val="33332D"/>
                </a:solidFill>
                <a:latin typeface="IBM Plex Sans" panose="020B0503050203000203" pitchFamily="34" charset="0"/>
              </a:rPr>
              <a:t>.</a:t>
            </a:r>
          </a:p>
          <a:p>
            <a:r>
              <a:rPr lang="fi-FI" sz="2000" dirty="0">
                <a:solidFill>
                  <a:srgbClr val="33332D"/>
                </a:solidFill>
                <a:latin typeface="IBM Plex Sans" panose="020B0503050203000203" pitchFamily="34" charset="0"/>
              </a:rPr>
              <a:t>Lisää console.log-lause </a:t>
            </a:r>
            <a:r>
              <a:rPr lang="fi-FI" sz="2000">
                <a:solidFill>
                  <a:srgbClr val="33332D"/>
                </a:solidFill>
                <a:latin typeface="IBM Plex Sans" panose="020B0503050203000203" pitchFamily="34" charset="0"/>
              </a:rPr>
              <a:t>ja katso </a:t>
            </a:r>
            <a:r>
              <a:rPr lang="fi-FI" sz="2000" dirty="0">
                <a:solidFill>
                  <a:srgbClr val="33332D"/>
                </a:solidFill>
                <a:latin typeface="IBM Plex Sans" panose="020B0503050203000203" pitchFamily="34" charset="0"/>
              </a:rPr>
              <a:t>mitä selaimen konsolissa tapahtuu.</a:t>
            </a:r>
            <a:endParaRPr lang="fi-FI" sz="2000" dirty="0"/>
          </a:p>
        </p:txBody>
      </p:sp>
      <p:pic>
        <p:nvPicPr>
          <p:cNvPr id="6" name="Kuva 5">
            <a:extLst>
              <a:ext uri="{FF2B5EF4-FFF2-40B4-BE49-F238E27FC236}">
                <a16:creationId xmlns:a16="http://schemas.microsoft.com/office/drawing/2014/main" id="{9F23F1E9-36E6-6F69-6B6A-15F217C69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418" y="1497505"/>
            <a:ext cx="2749691" cy="1873346"/>
          </a:xfrm>
          <a:prstGeom prst="rect">
            <a:avLst/>
          </a:prstGeom>
        </p:spPr>
      </p:pic>
      <p:sp>
        <p:nvSpPr>
          <p:cNvPr id="10" name="Tekstiruutu 9">
            <a:extLst>
              <a:ext uri="{FF2B5EF4-FFF2-40B4-BE49-F238E27FC236}">
                <a16:creationId xmlns:a16="http://schemas.microsoft.com/office/drawing/2014/main" id="{692D0615-D3B8-DF54-5200-A85BFE77100F}"/>
              </a:ext>
            </a:extLst>
          </p:cNvPr>
          <p:cNvSpPr txBox="1"/>
          <p:nvPr/>
        </p:nvSpPr>
        <p:spPr>
          <a:xfrm>
            <a:off x="7179971" y="3760631"/>
            <a:ext cx="4560864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App = () </a:t>
            </a:r>
            <a:r>
              <a:rPr lang="fi-FI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i-FI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console.log(</a:t>
            </a:r>
            <a:r>
              <a:rPr lang="fi-FI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'Hello from komponentti'</a:t>
            </a:r>
            <a:r>
              <a:rPr lang="fi-FI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i-FI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i-FI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fi-FI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6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fi-FI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6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fi-FI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 world</a:t>
            </a:r>
            <a:r>
              <a:rPr lang="fi-FI" sz="16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fi-FI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6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fi-FI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</a:t>
            </a:r>
          </a:p>
          <a:p>
            <a:r>
              <a:rPr lang="fi-FI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fi-FI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fi-FI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fi-FI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App</a:t>
            </a:r>
          </a:p>
        </p:txBody>
      </p:sp>
      <p:pic>
        <p:nvPicPr>
          <p:cNvPr id="12" name="Kuva 11">
            <a:extLst>
              <a:ext uri="{FF2B5EF4-FFF2-40B4-BE49-F238E27FC236}">
                <a16:creationId xmlns:a16="http://schemas.microsoft.com/office/drawing/2014/main" id="{FEB064D0-5ED4-842C-4932-4940D92DE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5799" y="5178357"/>
            <a:ext cx="5245370" cy="1314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4802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1A95AEB1-5540-5FC4-C17B-6145CEBDC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Reactin</a:t>
            </a:r>
            <a:r>
              <a:rPr lang="fi-FI" dirty="0"/>
              <a:t> alkeet – dynaaminen sisältö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D79E403B-BFE4-3195-326E-6646DCE0E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778876" cy="3924792"/>
          </a:xfrm>
        </p:spPr>
        <p:txBody>
          <a:bodyPr>
            <a:normAutofit/>
          </a:bodyPr>
          <a:lstStyle/>
          <a:p>
            <a:r>
              <a:rPr lang="fi-FI" dirty="0"/>
              <a:t>Komponenttien sisällä voidaan renderöidä myös dynaamista sisältöä.</a:t>
            </a:r>
          </a:p>
          <a:p>
            <a:r>
              <a:rPr lang="fi-FI" dirty="0"/>
              <a:t>Aaltosulkeiden sisällä oleva JavaScript-koodi upotetaan HTML-koodin sekaan.</a:t>
            </a:r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BBDA17F6-0C70-A63E-4A46-F118D7A8DA0D}"/>
              </a:ext>
            </a:extLst>
          </p:cNvPr>
          <p:cNvSpPr txBox="1"/>
          <p:nvPr/>
        </p:nvSpPr>
        <p:spPr>
          <a:xfrm>
            <a:off x="5090547" y="1606684"/>
            <a:ext cx="6263253" cy="535531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App = () </a:t>
            </a:r>
            <a:r>
              <a:rPr lang="fi-FI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i-FI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now = </a:t>
            </a:r>
            <a:r>
              <a:rPr lang="fi-FI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fi-FI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Date()</a:t>
            </a:r>
          </a:p>
          <a:p>
            <a:r>
              <a:rPr lang="fi-FI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 = </a:t>
            </a:r>
            <a:r>
              <a:rPr lang="fi-FI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endParaRPr lang="fi-FI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b = </a:t>
            </a:r>
            <a:r>
              <a:rPr lang="fi-FI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20</a:t>
            </a:r>
            <a:endParaRPr lang="fi-FI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console.log(now, a+b)</a:t>
            </a:r>
          </a:p>
          <a:p>
            <a:br>
              <a:rPr lang="fi-FI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i-FI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fi-FI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fi-FI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fi-FI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 world, it is </a:t>
            </a:r>
            <a:r>
              <a:rPr lang="fi-FI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now.toString()</a:t>
            </a:r>
            <a:r>
              <a:rPr lang="fi-FI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fi-FI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endParaRPr lang="fi-FI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i-FI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fi-FI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plus </a:t>
            </a:r>
            <a:r>
              <a:rPr lang="fi-FI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</a:t>
            </a:r>
            <a:r>
              <a:rPr lang="fi-FI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is </a:t>
            </a:r>
            <a:r>
              <a:rPr lang="fi-FI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 + b</a:t>
            </a:r>
            <a:r>
              <a:rPr lang="fi-FI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fi-FI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fi-FI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fi-FI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</a:t>
            </a:r>
          </a:p>
          <a:p>
            <a:r>
              <a:rPr lang="fi-FI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fi-FI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fi-FI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fi-FI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App</a:t>
            </a:r>
          </a:p>
          <a:p>
            <a:br>
              <a:rPr lang="fi-FI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fi-FI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10035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670243B9-07BB-55E9-AB1D-BFBF9CB5D4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JSX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0A0AE91F-5EBC-8012-EAD0-A0A5D5ACC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7876"/>
            <a:ext cx="10515600" cy="4351338"/>
          </a:xfrm>
        </p:spPr>
        <p:txBody>
          <a:bodyPr>
            <a:normAutofit/>
          </a:bodyPr>
          <a:lstStyle/>
          <a:p>
            <a:r>
              <a:rPr lang="fi-FI" sz="2400" dirty="0" err="1"/>
              <a:t>React</a:t>
            </a:r>
            <a:r>
              <a:rPr lang="fi-FI" sz="2400" dirty="0"/>
              <a:t>-komponentti palauttaa JSX-koodia, joka on HTML:n näköistä. Vaikka JSX näyttää HTML:ltä, kyseessä on kuitenkin tapa kirjoittaa </a:t>
            </a:r>
            <a:r>
              <a:rPr lang="fi-FI" sz="2400" dirty="0" err="1"/>
              <a:t>JavaScriptia</a:t>
            </a:r>
            <a:r>
              <a:rPr lang="fi-FI" sz="2400" dirty="0"/>
              <a:t>. Kehitysympäristö kääntää </a:t>
            </a:r>
            <a:r>
              <a:rPr lang="fi-FI" sz="2400" dirty="0" err="1"/>
              <a:t>JSX:n</a:t>
            </a:r>
            <a:r>
              <a:rPr lang="fi-FI" sz="2400" dirty="0"/>
              <a:t> JavaScriptiksi</a:t>
            </a:r>
          </a:p>
        </p:txBody>
      </p:sp>
      <p:pic>
        <p:nvPicPr>
          <p:cNvPr id="5" name="Kuva 4">
            <a:extLst>
              <a:ext uri="{FF2B5EF4-FFF2-40B4-BE49-F238E27FC236}">
                <a16:creationId xmlns:a16="http://schemas.microsoft.com/office/drawing/2014/main" id="{B14E1DF8-A543-30CC-097D-0B3BE73B7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297" y="2999590"/>
            <a:ext cx="4332042" cy="3296812"/>
          </a:xfrm>
          <a:prstGeom prst="rect">
            <a:avLst/>
          </a:prstGeom>
        </p:spPr>
      </p:pic>
      <p:sp>
        <p:nvSpPr>
          <p:cNvPr id="6" name="Nuoli: Oikea 5">
            <a:extLst>
              <a:ext uri="{FF2B5EF4-FFF2-40B4-BE49-F238E27FC236}">
                <a16:creationId xmlns:a16="http://schemas.microsoft.com/office/drawing/2014/main" id="{E186DCE5-B344-AE6E-7474-00E3A324FB87}"/>
              </a:ext>
            </a:extLst>
          </p:cNvPr>
          <p:cNvSpPr/>
          <p:nvPr/>
        </p:nvSpPr>
        <p:spPr>
          <a:xfrm>
            <a:off x="5748727" y="4369026"/>
            <a:ext cx="513263" cy="55793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pic>
        <p:nvPicPr>
          <p:cNvPr id="8" name="Kuva 7">
            <a:extLst>
              <a:ext uri="{FF2B5EF4-FFF2-40B4-BE49-F238E27FC236}">
                <a16:creationId xmlns:a16="http://schemas.microsoft.com/office/drawing/2014/main" id="{6266B800-CAE4-A4FD-4917-2F5CC40F3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8731" y="3045873"/>
            <a:ext cx="4900649" cy="3333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07907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35F37A28-54F2-BB3B-52CE-31BC0AFC1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Monta komponenttia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9BCF0522-504E-B479-0B08-2AD9964960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95552" cy="4351338"/>
          </a:xfrm>
        </p:spPr>
        <p:txBody>
          <a:bodyPr/>
          <a:lstStyle/>
          <a:p>
            <a:r>
              <a:rPr lang="fi-FI" dirty="0"/>
              <a:t>Määritellään uusi komponentti </a:t>
            </a:r>
            <a:r>
              <a:rPr lang="fi-FI" dirty="0" err="1"/>
              <a:t>Hello</a:t>
            </a:r>
            <a:r>
              <a:rPr lang="fi-FI" dirty="0"/>
              <a:t>, jota käytetään komponentista </a:t>
            </a:r>
            <a:r>
              <a:rPr lang="fi-FI" dirty="0" err="1"/>
              <a:t>App</a:t>
            </a:r>
            <a:r>
              <a:rPr lang="fi-FI" dirty="0"/>
              <a:t>.</a:t>
            </a:r>
          </a:p>
          <a:p>
            <a:r>
              <a:rPr lang="fi-FI" dirty="0" err="1"/>
              <a:t>Hello</a:t>
            </a:r>
            <a:r>
              <a:rPr lang="fi-FI" dirty="0"/>
              <a:t>-komponenttia voidaan käyttää tietysti monta kertaa</a:t>
            </a:r>
          </a:p>
          <a:p>
            <a:r>
              <a:rPr lang="fi-FI" dirty="0"/>
              <a:t>On sovittu, että juurikomponentti on nimeltään </a:t>
            </a:r>
            <a:r>
              <a:rPr lang="fi-FI" dirty="0" err="1"/>
              <a:t>App</a:t>
            </a:r>
            <a:r>
              <a:rPr lang="fi-FI" dirty="0"/>
              <a:t>.</a:t>
            </a:r>
          </a:p>
        </p:txBody>
      </p:sp>
      <p:sp>
        <p:nvSpPr>
          <p:cNvPr id="6" name="Tekstiruutu 5">
            <a:extLst>
              <a:ext uri="{FF2B5EF4-FFF2-40B4-BE49-F238E27FC236}">
                <a16:creationId xmlns:a16="http://schemas.microsoft.com/office/drawing/2014/main" id="{86A94B92-4221-9F32-D030-DB6FF1F57E49}"/>
              </a:ext>
            </a:extLst>
          </p:cNvPr>
          <p:cNvSpPr txBox="1"/>
          <p:nvPr/>
        </p:nvSpPr>
        <p:spPr>
          <a:xfrm>
            <a:off x="6754970" y="1027906"/>
            <a:ext cx="432086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i-FI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() </a:t>
            </a:r>
            <a:r>
              <a:rPr lang="fi-FI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console.log(</a:t>
            </a:r>
            <a:r>
              <a:rPr lang="fi-FI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i-FI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fi-FI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fi-FI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world</a:t>
            </a:r>
            <a:r>
              <a:rPr lang="fi-FI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fi-FI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fi-FI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() </a:t>
            </a:r>
            <a:r>
              <a:rPr lang="fi-FI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fi-FI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&lt;h1&gt;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Greetings</a:t>
            </a:r>
            <a:r>
              <a:rPr lang="fi-FI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&lt;/h1&gt;</a:t>
            </a:r>
            <a:endParaRPr lang="fi-FI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i-FI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fi-FI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i-FI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fi-FI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i-FI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fi-FI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fi-FI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</a:t>
            </a:r>
            <a:endParaRPr lang="fi-FI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06647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A411E2C2-BF5A-CA27-B324-72127E902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Tiedonvälitys komponenttien välillä (</a:t>
            </a:r>
            <a:r>
              <a:rPr lang="fi-FI" dirty="0" err="1"/>
              <a:t>props</a:t>
            </a:r>
            <a:r>
              <a:rPr lang="fi-FI" dirty="0"/>
              <a:t>)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989589C8-252F-867D-11D0-40989D77F4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306910" cy="4351338"/>
          </a:xfrm>
        </p:spPr>
        <p:txBody>
          <a:bodyPr>
            <a:normAutofit fontScale="92500"/>
          </a:bodyPr>
          <a:lstStyle/>
          <a:p>
            <a:r>
              <a:rPr lang="fi-FI" b="0" i="0" dirty="0">
                <a:solidFill>
                  <a:srgbClr val="33332D"/>
                </a:solidFill>
                <a:effectLst/>
                <a:latin typeface="IBM Plex Sans" panose="020B0503050203000203" pitchFamily="34" charset="0"/>
              </a:rPr>
              <a:t>Komponenteille voidaan välittää dataa propsien avulla.</a:t>
            </a:r>
          </a:p>
          <a:p>
            <a:r>
              <a:rPr lang="fi-FI" b="0" i="0" dirty="0">
                <a:solidFill>
                  <a:srgbClr val="33332D"/>
                </a:solidFill>
                <a:effectLst/>
                <a:latin typeface="IBM Plex Sans" panose="020B0503050203000203" pitchFamily="34" charset="0"/>
              </a:rPr>
              <a:t>Komponentin määrittelevällä funktiolla on nyt parametri </a:t>
            </a:r>
            <a:r>
              <a:rPr lang="fi-FI" b="0" i="1" dirty="0" err="1">
                <a:solidFill>
                  <a:srgbClr val="33332D"/>
                </a:solidFill>
                <a:effectLst/>
                <a:latin typeface="IBM Plex Sans" panose="020B0503050203000203" pitchFamily="34" charset="0"/>
              </a:rPr>
              <a:t>props</a:t>
            </a:r>
            <a:r>
              <a:rPr lang="fi-FI" b="0" i="0" dirty="0">
                <a:solidFill>
                  <a:srgbClr val="33332D"/>
                </a:solidFill>
                <a:effectLst/>
                <a:latin typeface="IBM Plex Sans" panose="020B0503050203000203" pitchFamily="34" charset="0"/>
              </a:rPr>
              <a:t>.</a:t>
            </a:r>
          </a:p>
          <a:p>
            <a:r>
              <a:rPr lang="fi-FI" b="0" i="0" dirty="0">
                <a:solidFill>
                  <a:srgbClr val="33332D"/>
                </a:solidFill>
                <a:effectLst/>
                <a:latin typeface="IBM Plex Sans" panose="020B0503050203000203" pitchFamily="34" charset="0"/>
              </a:rPr>
              <a:t>Parametri saa arvokseen olion, jonka kenttinä ovat kaikki eri "propsit", jotka komponentin käyttäjä määrittelee.</a:t>
            </a:r>
            <a:endParaRPr lang="fi-FI" dirty="0"/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29C18CFE-495C-2CEA-21B8-C5A5C6560321}"/>
              </a:ext>
            </a:extLst>
          </p:cNvPr>
          <p:cNvSpPr txBox="1"/>
          <p:nvPr/>
        </p:nvSpPr>
        <p:spPr>
          <a:xfrm>
            <a:off x="6233374" y="1764239"/>
            <a:ext cx="3663182" cy="4770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i-FI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fi-FI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props.name</a:t>
            </a:r>
            <a:r>
              <a:rPr lang="fi-FI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fi-FI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fi-FI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() </a:t>
            </a:r>
            <a:r>
              <a:rPr lang="fi-FI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fi-FI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&lt;h1&gt;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Terve</a:t>
            </a:r>
            <a:r>
              <a:rPr lang="fi-FI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&lt;/h1&gt;</a:t>
            </a:r>
            <a:endParaRPr lang="fi-FI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i-FI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i-FI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"Mika"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fi-FI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i-FI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i-FI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"Jaana"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fi-FI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fi-FI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</a:t>
            </a:r>
            <a:endParaRPr lang="fi-FI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06914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0433B9DE-693F-640B-6048-53CC7D0862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Tiedonvälitys komponenttien välillä (</a:t>
            </a:r>
            <a:r>
              <a:rPr lang="fi-FI" dirty="0" err="1"/>
              <a:t>props</a:t>
            </a:r>
            <a:r>
              <a:rPr lang="fi-FI" dirty="0"/>
              <a:t>)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2775D4B1-4310-6AD7-677D-D696BAA16D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920544" cy="4351338"/>
          </a:xfrm>
        </p:spPr>
        <p:txBody>
          <a:bodyPr>
            <a:normAutofit fontScale="92500" lnSpcReduction="20000"/>
          </a:bodyPr>
          <a:lstStyle/>
          <a:p>
            <a:r>
              <a:rPr lang="fi-FI" dirty="0"/>
              <a:t>Kaksi propsia</a:t>
            </a:r>
          </a:p>
          <a:p>
            <a:r>
              <a:rPr lang="fi-FI" dirty="0"/>
              <a:t>Muista web-konsoli ja console.log-aputulostukset!</a:t>
            </a:r>
          </a:p>
          <a:p>
            <a:r>
              <a:rPr lang="fi-FI" dirty="0" err="1"/>
              <a:t>Huom</a:t>
            </a:r>
            <a:r>
              <a:rPr lang="fi-FI" dirty="0"/>
              <a:t>: </a:t>
            </a:r>
            <a:r>
              <a:rPr lang="fi-FI" dirty="0" err="1"/>
              <a:t>React</a:t>
            </a:r>
            <a:r>
              <a:rPr lang="fi-FI" dirty="0"/>
              <a:t>-komponenttien nimien tulee alkaa isolla kirjaimella</a:t>
            </a:r>
          </a:p>
          <a:p>
            <a:r>
              <a:rPr lang="fi-FI" dirty="0" err="1"/>
              <a:t>Huom</a:t>
            </a:r>
            <a:r>
              <a:rPr lang="fi-FI" dirty="0"/>
              <a:t>: </a:t>
            </a:r>
            <a:r>
              <a:rPr lang="fi-FI" dirty="0" err="1"/>
              <a:t>React</a:t>
            </a:r>
            <a:r>
              <a:rPr lang="fi-FI" dirty="0"/>
              <a:t>-komponentin tulee sisältää yksi juurielementti</a:t>
            </a:r>
          </a:p>
          <a:p>
            <a:r>
              <a:rPr lang="fi-FI" sz="1600" dirty="0"/>
              <a:t>Ks. Materiaali virheilmoituksen poistamisesta</a:t>
            </a:r>
          </a:p>
          <a:p>
            <a:endParaRPr lang="fi-FI" sz="1600" dirty="0"/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33FA4B4F-1A7B-F111-6F7F-9461B32C5699}"/>
              </a:ext>
            </a:extLst>
          </p:cNvPr>
          <p:cNvSpPr txBox="1"/>
          <p:nvPr/>
        </p:nvSpPr>
        <p:spPr>
          <a:xfrm>
            <a:off x="5254580" y="1369804"/>
            <a:ext cx="5849678" cy="52629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Hello = (props) </a:t>
            </a:r>
            <a:r>
              <a:rPr lang="fi-FI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i-FI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console.log(props)</a:t>
            </a:r>
          </a:p>
          <a:p>
            <a:r>
              <a:rPr lang="fi-FI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i-FI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fi-FI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4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fi-FI" sz="1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4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endParaRPr lang="fi-FI" sz="1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Hello </a:t>
            </a:r>
            <a:r>
              <a:rPr lang="fi-FI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props.name</a:t>
            </a:r>
            <a:r>
              <a:rPr lang="fi-FI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you are </a:t>
            </a:r>
            <a:r>
              <a:rPr lang="fi-FI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props.age</a:t>
            </a:r>
            <a:r>
              <a:rPr lang="fi-FI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years old</a:t>
            </a:r>
          </a:p>
          <a:p>
            <a:r>
              <a:rPr lang="fi-FI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4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fi-FI" sz="1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4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fi-FI" sz="1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</a:t>
            </a:r>
          </a:p>
          <a:p>
            <a:r>
              <a:rPr lang="fi-FI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fi-FI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App = () </a:t>
            </a:r>
            <a:r>
              <a:rPr lang="fi-FI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i-FI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nimi = </a:t>
            </a:r>
            <a:r>
              <a:rPr lang="fi-FI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'Mika'</a:t>
            </a:r>
            <a:endParaRPr lang="fi-FI" sz="1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ika = </a:t>
            </a:r>
            <a:r>
              <a:rPr lang="fi-FI" sz="1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12</a:t>
            </a:r>
            <a:endParaRPr lang="fi-FI" sz="1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fi-FI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i-FI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fi-FI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4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fi-FI" sz="1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4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&lt;h1&gt;</a:t>
            </a:r>
            <a:r>
              <a:rPr lang="fi-FI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Greetings</a:t>
            </a:r>
            <a:r>
              <a:rPr lang="fi-FI" sz="14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&lt;/h1&gt;</a:t>
            </a:r>
            <a:endParaRPr lang="fi-FI" sz="1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4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&lt;Hello</a:t>
            </a:r>
            <a:r>
              <a:rPr lang="fi-FI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400" b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fi-FI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i-FI" sz="14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"Jaana"</a:t>
            </a:r>
            <a:r>
              <a:rPr lang="fi-FI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400" b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fi-FI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i-FI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33</a:t>
            </a:r>
            <a:r>
              <a:rPr lang="fi-FI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fi-FI" sz="14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11</a:t>
            </a:r>
            <a:r>
              <a:rPr lang="fi-FI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4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fi-FI" sz="1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4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&lt;Hello</a:t>
            </a:r>
            <a:r>
              <a:rPr lang="fi-FI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400" b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fi-FI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i-FI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nimi</a:t>
            </a:r>
            <a:r>
              <a:rPr lang="fi-FI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400" b="0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fi-FI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i-FI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ika</a:t>
            </a:r>
            <a:r>
              <a:rPr lang="fi-FI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4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fi-FI" sz="1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4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fi-FI" sz="14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</a:t>
            </a:r>
          </a:p>
          <a:p>
            <a:r>
              <a:rPr lang="fi-FI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fi-FI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fi-FI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4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fi-FI" sz="14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App</a:t>
            </a:r>
          </a:p>
        </p:txBody>
      </p:sp>
    </p:spTree>
    <p:extLst>
      <p:ext uri="{BB962C8B-B14F-4D97-AF65-F5344CB8AC3E}">
        <p14:creationId xmlns:p14="http://schemas.microsoft.com/office/powerpoint/2010/main" val="38338578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1F7E35E8-DE5E-02CD-96F6-6780D7BAD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Olioiden renderöinti ei onnistu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4AF1E300-5C7C-FC5C-4143-6D34B7DBF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6684" y="1492406"/>
            <a:ext cx="10875136" cy="666437"/>
          </a:xfrm>
        </p:spPr>
        <p:txBody>
          <a:bodyPr>
            <a:noAutofit/>
          </a:bodyPr>
          <a:lstStyle/>
          <a:p>
            <a:r>
              <a:rPr lang="fi-FI" sz="2000" b="0" i="0" dirty="0">
                <a:solidFill>
                  <a:srgbClr val="33332D"/>
                </a:solidFill>
                <a:effectLst/>
                <a:latin typeface="IBM Plex Sans" panose="020B0503050203000203" pitchFamily="34" charset="0"/>
              </a:rPr>
              <a:t>Yksittäisten aaltosulkeissa renderöitävien asioiden tulee </a:t>
            </a:r>
            <a:r>
              <a:rPr lang="fi-FI" sz="2000" b="0" i="0" dirty="0" err="1">
                <a:solidFill>
                  <a:srgbClr val="33332D"/>
                </a:solidFill>
                <a:effectLst/>
                <a:latin typeface="IBM Plex Sans" panose="020B0503050203000203" pitchFamily="34" charset="0"/>
              </a:rPr>
              <a:t>Reactissa</a:t>
            </a:r>
            <a:r>
              <a:rPr lang="fi-FI" sz="2000" b="0" i="0" dirty="0">
                <a:solidFill>
                  <a:srgbClr val="33332D"/>
                </a:solidFill>
                <a:effectLst/>
                <a:latin typeface="IBM Plex Sans" panose="020B0503050203000203" pitchFamily="34" charset="0"/>
              </a:rPr>
              <a:t> olla primitiivisiä arvoja, kuten lukuja tai merkkijonoja. Kokeile ensin vasemman puoleista koodia</a:t>
            </a:r>
            <a:endParaRPr lang="fi-FI" sz="2000" dirty="0"/>
          </a:p>
        </p:txBody>
      </p:sp>
      <p:sp>
        <p:nvSpPr>
          <p:cNvPr id="8" name="Tekstiruutu 7">
            <a:extLst>
              <a:ext uri="{FF2B5EF4-FFF2-40B4-BE49-F238E27FC236}">
                <a16:creationId xmlns:a16="http://schemas.microsoft.com/office/drawing/2014/main" id="{452B2A4B-5781-C456-3686-FA6968614CC0}"/>
              </a:ext>
            </a:extLst>
          </p:cNvPr>
          <p:cNvSpPr txBox="1"/>
          <p:nvPr/>
        </p:nvSpPr>
        <p:spPr>
          <a:xfrm>
            <a:off x="838200" y="2290131"/>
            <a:ext cx="4563950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() </a:t>
            </a:r>
            <a:r>
              <a:rPr lang="fi-FI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friends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[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i-FI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'Leevi'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i-FI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i-FI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'Venla'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i-FI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]</a:t>
            </a:r>
          </a:p>
          <a:p>
            <a:b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fi-FI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fi-FI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friends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i-FI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fi-FI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fi-FI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fi-FI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friends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i-FI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fi-FI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fi-FI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fi-FI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</a:t>
            </a:r>
            <a:endParaRPr lang="fi-FI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fi-FI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9" name="Tekstiruutu 8">
            <a:extLst>
              <a:ext uri="{FF2B5EF4-FFF2-40B4-BE49-F238E27FC236}">
                <a16:creationId xmlns:a16="http://schemas.microsoft.com/office/drawing/2014/main" id="{D2739614-C333-1295-023B-70009AAF33B8}"/>
              </a:ext>
            </a:extLst>
          </p:cNvPr>
          <p:cNvSpPr txBox="1"/>
          <p:nvPr/>
        </p:nvSpPr>
        <p:spPr>
          <a:xfrm>
            <a:off x="5895254" y="2290131"/>
            <a:ext cx="5458546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App = () </a:t>
            </a:r>
            <a:r>
              <a:rPr lang="fi-FI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i-FI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friends = [</a:t>
            </a:r>
          </a:p>
          <a:p>
            <a:r>
              <a:rPr lang="fi-FI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 name: </a:t>
            </a:r>
            <a:r>
              <a:rPr lang="fi-FI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'Leevi'</a:t>
            </a:r>
            <a:r>
              <a:rPr lang="fi-FI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age: </a:t>
            </a:r>
            <a:r>
              <a:rPr lang="fi-FI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fi-FI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</a:t>
            </a:r>
          </a:p>
          <a:p>
            <a:r>
              <a:rPr lang="fi-FI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{ name: </a:t>
            </a:r>
            <a:r>
              <a:rPr lang="fi-FI" sz="1600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'Venla'</a:t>
            </a:r>
            <a:r>
              <a:rPr lang="fi-FI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age: </a:t>
            </a:r>
            <a:r>
              <a:rPr lang="fi-FI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fi-FI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},</a:t>
            </a:r>
          </a:p>
          <a:p>
            <a:r>
              <a:rPr lang="fi-FI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]</a:t>
            </a:r>
          </a:p>
          <a:p>
            <a:br>
              <a:rPr lang="fi-FI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i-FI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fi-FI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6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fi-FI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6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fi-FI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friends[</a:t>
            </a:r>
            <a:r>
              <a:rPr lang="fi-FI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fi-FI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].name</a:t>
            </a:r>
            <a:r>
              <a:rPr lang="fi-FI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friends[</a:t>
            </a:r>
            <a:r>
              <a:rPr lang="fi-FI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fi-FI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].age</a:t>
            </a:r>
            <a:r>
              <a:rPr lang="fi-FI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6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fi-FI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6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fi-FI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friends[</a:t>
            </a:r>
            <a:r>
              <a:rPr lang="fi-FI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i-FI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].name</a:t>
            </a:r>
            <a:r>
              <a:rPr lang="fi-FI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friends[</a:t>
            </a:r>
            <a:r>
              <a:rPr lang="fi-FI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i-FI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].age</a:t>
            </a:r>
            <a:r>
              <a:rPr lang="fi-FI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6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fi-FI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600" b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fi-FI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</a:t>
            </a:r>
          </a:p>
          <a:p>
            <a:r>
              <a:rPr lang="fi-FI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fi-FI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fi-FI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fi-FI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App</a:t>
            </a:r>
          </a:p>
        </p:txBody>
      </p:sp>
      <p:sp>
        <p:nvSpPr>
          <p:cNvPr id="10" name="Nuoli: Oikea 9">
            <a:extLst>
              <a:ext uri="{FF2B5EF4-FFF2-40B4-BE49-F238E27FC236}">
                <a16:creationId xmlns:a16="http://schemas.microsoft.com/office/drawing/2014/main" id="{369EB861-FA4F-A4A1-DDB2-DF377F69C228}"/>
              </a:ext>
            </a:extLst>
          </p:cNvPr>
          <p:cNvSpPr/>
          <p:nvPr/>
        </p:nvSpPr>
        <p:spPr>
          <a:xfrm>
            <a:off x="4707228" y="3792828"/>
            <a:ext cx="534473" cy="32841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57553346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2BF2A15F-D5BD-1E2D-EA05-0D4898863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Tehtävät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AFF28860-DC21-E197-8D3A-B09E02EC8B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Tee tehtävät 1.1 ja 1.2</a:t>
            </a:r>
          </a:p>
        </p:txBody>
      </p:sp>
    </p:spTree>
    <p:extLst>
      <p:ext uri="{BB962C8B-B14F-4D97-AF65-F5344CB8AC3E}">
        <p14:creationId xmlns:p14="http://schemas.microsoft.com/office/powerpoint/2010/main" val="41312252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1D507339-0DA9-3651-0996-D2FBF67957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Tehtävä 1.1 ja 1.2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18BDCD77-8EA8-ED6A-0AE1-86ACDCF09A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0276" y="1568047"/>
            <a:ext cx="6373968" cy="853181"/>
          </a:xfrm>
        </p:spPr>
        <p:txBody>
          <a:bodyPr>
            <a:normAutofit/>
          </a:bodyPr>
          <a:lstStyle/>
          <a:p>
            <a:r>
              <a:rPr lang="fi-FI" sz="2000" dirty="0"/>
              <a:t>Etene asteittain. Etsi ensin sopiva malli </a:t>
            </a:r>
            <a:r>
              <a:rPr lang="fi-FI" sz="2000" dirty="0" err="1"/>
              <a:t>Header</a:t>
            </a:r>
            <a:r>
              <a:rPr lang="fi-FI" sz="2000" dirty="0"/>
              <a:t>-komponenttia varten (sellainen, jossa on propsien välitys)</a:t>
            </a:r>
          </a:p>
        </p:txBody>
      </p:sp>
      <p:sp>
        <p:nvSpPr>
          <p:cNvPr id="5" name="Tekstiruutu 4">
            <a:extLst>
              <a:ext uri="{FF2B5EF4-FFF2-40B4-BE49-F238E27FC236}">
                <a16:creationId xmlns:a16="http://schemas.microsoft.com/office/drawing/2014/main" id="{13B9788C-5007-084C-92C5-3519960FFDA4}"/>
              </a:ext>
            </a:extLst>
          </p:cNvPr>
          <p:cNvSpPr txBox="1"/>
          <p:nvPr/>
        </p:nvSpPr>
        <p:spPr>
          <a:xfrm>
            <a:off x="7445600" y="428178"/>
            <a:ext cx="4499556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Header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console.log(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&lt;h1&gt;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Kurssin nimi: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props.course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&lt;/h1&gt;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Content = (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console.log(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props.partname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props.exercises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Total = (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console.log(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Tehtäviä yhteensä: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props.sum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kstiruutu 6">
            <a:extLst>
              <a:ext uri="{FF2B5EF4-FFF2-40B4-BE49-F238E27FC236}">
                <a16:creationId xmlns:a16="http://schemas.microsoft.com/office/drawing/2014/main" id="{A6CECD47-E9B1-7B55-8F65-152A97BD80AF}"/>
              </a:ext>
            </a:extLst>
          </p:cNvPr>
          <p:cNvSpPr txBox="1"/>
          <p:nvPr/>
        </p:nvSpPr>
        <p:spPr>
          <a:xfrm>
            <a:off x="558623" y="2757652"/>
            <a:ext cx="609492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()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course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i-FI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Half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application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development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part1 = 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'Fundamentals of </a:t>
            </a:r>
            <a:r>
              <a:rPr lang="fi-FI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exercises1 = </a:t>
            </a:r>
            <a:r>
              <a:rPr lang="fi-FI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part2 = 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'Using </a:t>
            </a:r>
            <a:r>
              <a:rPr lang="fi-FI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to </a:t>
            </a:r>
            <a:r>
              <a:rPr lang="fi-FI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pass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data'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exercises2 = </a:t>
            </a:r>
            <a:r>
              <a:rPr lang="fi-FI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part3 = 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'State of a </a:t>
            </a:r>
            <a:r>
              <a:rPr lang="fi-FI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component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exercises3 = </a:t>
            </a:r>
            <a:r>
              <a:rPr lang="fi-FI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14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i-FI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Header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course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course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&lt;Content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partname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part1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exercises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exercises1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&lt;Content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partname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part2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exercises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exercises2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&lt;Content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partname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part3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exercises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exercises3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&lt;Total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exercises1 + exercises2 + exercises3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99343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DBADB61A-EDAC-9869-9538-B7D37D2B91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i-FI" dirty="0"/>
              <a:t>JavaScript</a:t>
            </a: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5F717FCA-5A2E-3BE6-40A0-105096DCCB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3783101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1381A-100F-4C27-9F67-9CE71053A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Javascript</a:t>
            </a:r>
            <a:endParaRPr lang="fi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7FA7B0-4EC7-4C35-9B69-EBBDCD9B0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47823" cy="4351338"/>
          </a:xfrm>
        </p:spPr>
        <p:txBody>
          <a:bodyPr>
            <a:normAutofit fontScale="85000" lnSpcReduction="20000"/>
          </a:bodyPr>
          <a:lstStyle/>
          <a:p>
            <a:r>
              <a:rPr lang="fi-FI" dirty="0"/>
              <a:t>Kerrataan </a:t>
            </a:r>
            <a:r>
              <a:rPr lang="fi-FI" dirty="0" err="1"/>
              <a:t>Javascriptia</a:t>
            </a:r>
            <a:r>
              <a:rPr lang="fi-FI" dirty="0"/>
              <a:t> sivulta</a:t>
            </a:r>
          </a:p>
          <a:p>
            <a:pPr lvl="1"/>
            <a:r>
              <a:rPr lang="fi-FI" dirty="0">
                <a:hlinkClick r:id="rId2"/>
              </a:rPr>
              <a:t>https://fullstackopen.com/osa1/java_scriptia</a:t>
            </a:r>
            <a:r>
              <a:rPr lang="fi-FI" dirty="0"/>
              <a:t> </a:t>
            </a:r>
          </a:p>
          <a:p>
            <a:r>
              <a:rPr lang="fi-FI" dirty="0"/>
              <a:t>Kokeillaan JavaScript esimerkkejä </a:t>
            </a:r>
            <a:r>
              <a:rPr lang="fi-FI" dirty="0" err="1"/>
              <a:t>Node.js:n</a:t>
            </a:r>
            <a:r>
              <a:rPr lang="fi-FI" dirty="0"/>
              <a:t> avulla (</a:t>
            </a:r>
            <a:r>
              <a:rPr lang="fi-FI" dirty="0" err="1"/>
              <a:t>Nodea</a:t>
            </a:r>
            <a:r>
              <a:rPr lang="fi-FI" dirty="0"/>
              <a:t> käytetään myöhemmin palvelinohjelmoinnissa)</a:t>
            </a:r>
          </a:p>
          <a:p>
            <a:r>
              <a:rPr lang="fi-FI" dirty="0"/>
              <a:t>Koodi kirjoitetaan .</a:t>
            </a:r>
            <a:r>
              <a:rPr lang="fi-FI" dirty="0" err="1"/>
              <a:t>js</a:t>
            </a:r>
            <a:r>
              <a:rPr lang="fi-FI" dirty="0"/>
              <a:t>-päätteiseen tiedostoon ja suoritetaan komennolla </a:t>
            </a:r>
            <a:r>
              <a:rPr lang="fi-FI" dirty="0" err="1"/>
              <a:t>node</a:t>
            </a:r>
            <a:r>
              <a:rPr lang="fi-FI" dirty="0"/>
              <a:t> tiedosto.js</a:t>
            </a:r>
          </a:p>
          <a:p>
            <a:r>
              <a:rPr lang="fi-FI" dirty="0"/>
              <a:t>Vakio määritellään avainsanalla </a:t>
            </a:r>
            <a:r>
              <a:rPr lang="fi-FI" dirty="0" err="1"/>
              <a:t>const</a:t>
            </a:r>
            <a:endParaRPr lang="fi-FI" dirty="0"/>
          </a:p>
          <a:p>
            <a:r>
              <a:rPr lang="fi-FI" dirty="0"/>
              <a:t>Muuttuja määritellään </a:t>
            </a:r>
            <a:r>
              <a:rPr lang="fi-FI" dirty="0" err="1"/>
              <a:t>avansanalla</a:t>
            </a:r>
            <a:r>
              <a:rPr lang="fi-FI" dirty="0"/>
              <a:t> </a:t>
            </a:r>
            <a:r>
              <a:rPr lang="fi-FI" dirty="0" err="1"/>
              <a:t>let</a:t>
            </a:r>
            <a:r>
              <a:rPr lang="fi-FI" dirty="0"/>
              <a:t>.</a:t>
            </a:r>
          </a:p>
        </p:txBody>
      </p:sp>
      <p:sp>
        <p:nvSpPr>
          <p:cNvPr id="6" name="Tekstiruutu 5">
            <a:extLst>
              <a:ext uri="{FF2B5EF4-FFF2-40B4-BE49-F238E27FC236}">
                <a16:creationId xmlns:a16="http://schemas.microsoft.com/office/drawing/2014/main" id="{ADE49A42-2915-1857-51C7-FC246E2B1DBC}"/>
              </a:ext>
            </a:extLst>
          </p:cNvPr>
          <p:cNvSpPr txBox="1"/>
          <p:nvPr/>
        </p:nvSpPr>
        <p:spPr>
          <a:xfrm>
            <a:off x="6432998" y="1690688"/>
            <a:ext cx="5376793" cy="258532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x = </a:t>
            </a:r>
            <a:r>
              <a:rPr lang="fi-FI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endParaRPr lang="fi-FI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fi-FI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 = </a:t>
            </a:r>
            <a:r>
              <a:rPr lang="fi-FI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endParaRPr lang="fi-FI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fi-FI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console.log(x, y)   </a:t>
            </a:r>
            <a:r>
              <a:rPr lang="fi-FI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tulostuu 1, 5</a:t>
            </a:r>
            <a:endParaRPr lang="fi-FI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 += </a:t>
            </a:r>
            <a:r>
              <a:rPr lang="fi-FI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endParaRPr lang="fi-FI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console.log(x, y)   </a:t>
            </a:r>
            <a:r>
              <a:rPr lang="fi-FI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tulostuu 1, 15</a:t>
            </a:r>
            <a:endParaRPr lang="fi-FI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 = </a:t>
            </a:r>
            <a:r>
              <a:rPr lang="fi-FI" b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'teksti'</a:t>
            </a:r>
            <a:endParaRPr lang="fi-FI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console.log(x, y)   </a:t>
            </a:r>
            <a:r>
              <a:rPr lang="fi-FI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tulostuu 1, teksti</a:t>
            </a:r>
            <a:endParaRPr lang="fi-FI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x = </a:t>
            </a:r>
            <a:r>
              <a:rPr lang="fi-FI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fi-FI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        </a:t>
            </a:r>
            <a:r>
              <a:rPr lang="fi-FI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aiheuttaa virheen</a:t>
            </a:r>
            <a:endParaRPr lang="fi-FI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55311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Taulukot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461456" cy="4351338"/>
          </a:xfrm>
        </p:spPr>
        <p:txBody>
          <a:bodyPr>
            <a:normAutofit fontScale="85000" lnSpcReduction="20000"/>
          </a:bodyPr>
          <a:lstStyle/>
          <a:p>
            <a:r>
              <a:rPr lang="fi-FI" dirty="0" err="1"/>
              <a:t>forEach</a:t>
            </a:r>
            <a:r>
              <a:rPr lang="fi-FI" dirty="0"/>
              <a:t> saa parametrikseen nuolisyntaksilla määritellyn funktion</a:t>
            </a:r>
          </a:p>
          <a:p>
            <a:r>
              <a:rPr lang="fi-FI" dirty="0" err="1"/>
              <a:t>forEach</a:t>
            </a:r>
            <a:r>
              <a:rPr lang="fi-FI" dirty="0"/>
              <a:t> kutsuu funktiota jokaiselle taulukon alkiolle antaen taulukon alkion aina parametrina</a:t>
            </a:r>
          </a:p>
          <a:p>
            <a:endParaRPr lang="fi-FI" dirty="0"/>
          </a:p>
          <a:p>
            <a:r>
              <a:rPr lang="fi-FI" dirty="0" err="1"/>
              <a:t>Reactissa</a:t>
            </a:r>
            <a:r>
              <a:rPr lang="fi-FI" dirty="0"/>
              <a:t> kannattaa </a:t>
            </a:r>
            <a:r>
              <a:rPr lang="fi-FI" dirty="0" err="1"/>
              <a:t>käyttää¨push-metodin</a:t>
            </a:r>
            <a:r>
              <a:rPr lang="fi-FI" dirty="0"/>
              <a:t> sijaan  metodia </a:t>
            </a:r>
            <a:r>
              <a:rPr lang="fi-FI" dirty="0" err="1"/>
              <a:t>concat</a:t>
            </a:r>
            <a:r>
              <a:rPr lang="fi-FI" dirty="0"/>
              <a:t>, joka ei lisää alkiota taulukkoon, vaan luo uuden taulukon, jossa on lisättävä alkio sekä vanhan taulukon sisältö</a:t>
            </a:r>
          </a:p>
        </p:txBody>
      </p:sp>
      <p:sp>
        <p:nvSpPr>
          <p:cNvPr id="5" name="Tekstiruutu 4">
            <a:extLst>
              <a:ext uri="{FF2B5EF4-FFF2-40B4-BE49-F238E27FC236}">
                <a16:creationId xmlns:a16="http://schemas.microsoft.com/office/drawing/2014/main" id="{E6491931-2580-9355-96E4-19D713415705}"/>
              </a:ext>
            </a:extLst>
          </p:cNvPr>
          <p:cNvSpPr txBox="1"/>
          <p:nvPr/>
        </p:nvSpPr>
        <p:spPr>
          <a:xfrm>
            <a:off x="5673144" y="365125"/>
            <a:ext cx="5907386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 = [</a:t>
            </a:r>
            <a:r>
              <a:rPr lang="fi-FI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fi-FI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i-FI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b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console.log(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t.length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i-FI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tulostuu 3</a:t>
            </a:r>
            <a:endParaRPr lang="fi-FI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console.log(t[</a:t>
            </a:r>
            <a:r>
              <a:rPr lang="fi-FI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     </a:t>
            </a:r>
            <a:r>
              <a:rPr lang="fi-FI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tulostuu -1</a:t>
            </a:r>
            <a:endParaRPr lang="fi-FI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t.push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i-FI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           </a:t>
            </a:r>
            <a:r>
              <a:rPr lang="fi-FI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lisätään taulukkoon luku 5</a:t>
            </a:r>
            <a:endParaRPr lang="fi-FI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console.log(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t.length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i-FI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tulostuu 4</a:t>
            </a:r>
            <a:endParaRPr lang="fi-FI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t.forEach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console.log(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fi-FI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tulostuu 1, -1, 3, </a:t>
            </a:r>
            <a:endParaRPr lang="fi-FI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})           </a:t>
            </a:r>
          </a:p>
          <a:p>
            <a:b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fi-FI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6" name="Tekstiruutu 5">
            <a:extLst>
              <a:ext uri="{FF2B5EF4-FFF2-40B4-BE49-F238E27FC236}">
                <a16:creationId xmlns:a16="http://schemas.microsoft.com/office/drawing/2014/main" id="{A0BC191A-492F-BA44-743D-7119666A5026}"/>
              </a:ext>
            </a:extLst>
          </p:cNvPr>
          <p:cNvSpPr txBox="1"/>
          <p:nvPr/>
        </p:nvSpPr>
        <p:spPr>
          <a:xfrm>
            <a:off x="5673144" y="4327301"/>
            <a:ext cx="478528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r-F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 = [</a:t>
            </a:r>
            <a:r>
              <a:rPr lang="fr-F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-</a:t>
            </a:r>
            <a:r>
              <a:rPr lang="fr-F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r-F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r-F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fr-F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br>
              <a:rPr lang="fr-F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r-FR" sz="1600" b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r-F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t2 = t.concat(</a:t>
            </a:r>
            <a:r>
              <a:rPr lang="fr-FR" sz="1600" b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fr-F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fr-F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r-F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console.log(t)  </a:t>
            </a:r>
            <a:r>
              <a:rPr lang="fr-F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tulostuu [1, -1, 3]</a:t>
            </a:r>
            <a:endParaRPr lang="fr-F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r-FR" sz="1600" b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console.log(t2) </a:t>
            </a:r>
            <a:r>
              <a:rPr lang="fr-FR" sz="1600" b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tulostuu [1, -1, 3, 5]</a:t>
            </a:r>
            <a:endParaRPr lang="fr-FR" sz="1600" b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23168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Map</a:t>
            </a:r>
            <a:endParaRPr lang="fi-FI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9106989" cy="1936478"/>
          </a:xfrm>
        </p:spPr>
        <p:txBody>
          <a:bodyPr>
            <a:normAutofit/>
          </a:bodyPr>
          <a:lstStyle/>
          <a:p>
            <a:r>
              <a:rPr lang="fi-FI" dirty="0" err="1"/>
              <a:t>Map</a:t>
            </a:r>
            <a:r>
              <a:rPr lang="fi-FI" dirty="0"/>
              <a:t> muodostaa taulukon perusteella uuden taulukon, jonka jokainen alkio muodostetaan </a:t>
            </a:r>
            <a:r>
              <a:rPr lang="fi-FI" dirty="0" err="1"/>
              <a:t>map:in</a:t>
            </a:r>
            <a:r>
              <a:rPr lang="fi-FI" dirty="0"/>
              <a:t> parametrina olevan funktion avulla. </a:t>
            </a:r>
          </a:p>
        </p:txBody>
      </p:sp>
      <p:sp>
        <p:nvSpPr>
          <p:cNvPr id="4" name="Rectangle 3"/>
          <p:cNvSpPr/>
          <p:nvPr/>
        </p:nvSpPr>
        <p:spPr>
          <a:xfrm>
            <a:off x="1515292" y="3530160"/>
            <a:ext cx="8429897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i-FI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fi-FI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i-FI" dirty="0">
                <a:solidFill>
                  <a:srgbClr val="001080"/>
                </a:solidFill>
                <a:latin typeface="Consolas" panose="020B0609020204030204" pitchFamily="49" charset="0"/>
              </a:rPr>
              <a:t>t</a:t>
            </a:r>
            <a:r>
              <a:rPr lang="fi-FI" dirty="0">
                <a:solidFill>
                  <a:srgbClr val="000000"/>
                </a:solidFill>
                <a:latin typeface="Consolas" panose="020B0609020204030204" pitchFamily="49" charset="0"/>
              </a:rPr>
              <a:t> = [</a:t>
            </a:r>
            <a:r>
              <a:rPr lang="fi-FI" dirty="0">
                <a:solidFill>
                  <a:srgbClr val="09885A"/>
                </a:solidFill>
                <a:latin typeface="Consolas" panose="020B0609020204030204" pitchFamily="49" charset="0"/>
              </a:rPr>
              <a:t>1</a:t>
            </a:r>
            <a:r>
              <a:rPr lang="fi-FI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i-FI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fi-FI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i-FI" dirty="0">
                <a:solidFill>
                  <a:srgbClr val="09885A"/>
                </a:solidFill>
                <a:latin typeface="Consolas" panose="020B0609020204030204" pitchFamily="49" charset="0"/>
              </a:rPr>
              <a:t>3</a:t>
            </a:r>
            <a:r>
              <a:rPr lang="fi-FI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i-FI" dirty="0">
                <a:solidFill>
                  <a:srgbClr val="09885A"/>
                </a:solidFill>
                <a:latin typeface="Consolas" panose="020B0609020204030204" pitchFamily="49" charset="0"/>
              </a:rPr>
              <a:t>4</a:t>
            </a:r>
            <a:r>
              <a:rPr lang="fi-FI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fi-FI" dirty="0">
                <a:solidFill>
                  <a:srgbClr val="09885A"/>
                </a:solidFill>
                <a:latin typeface="Consolas" panose="020B0609020204030204" pitchFamily="49" charset="0"/>
              </a:rPr>
              <a:t>5</a:t>
            </a:r>
            <a:r>
              <a:rPr lang="fi-FI" dirty="0">
                <a:solidFill>
                  <a:srgbClr val="000000"/>
                </a:solidFill>
                <a:latin typeface="Consolas" panose="020B0609020204030204" pitchFamily="49" charset="0"/>
              </a:rPr>
              <a:t>]</a:t>
            </a:r>
          </a:p>
          <a:p>
            <a:br>
              <a:rPr lang="fi-FI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fi-FI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fi-FI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i-FI" dirty="0">
                <a:solidFill>
                  <a:srgbClr val="001080"/>
                </a:solidFill>
                <a:latin typeface="Consolas" panose="020B0609020204030204" pitchFamily="49" charset="0"/>
              </a:rPr>
              <a:t>m1</a:t>
            </a:r>
            <a:r>
              <a:rPr lang="fi-FI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i-FI" dirty="0" err="1">
                <a:solidFill>
                  <a:srgbClr val="001080"/>
                </a:solidFill>
                <a:latin typeface="Consolas" panose="020B0609020204030204" pitchFamily="49" charset="0"/>
              </a:rPr>
              <a:t>t</a:t>
            </a:r>
            <a:r>
              <a:rPr lang="fi-FI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fi-FI" dirty="0" err="1">
                <a:solidFill>
                  <a:srgbClr val="795E26"/>
                </a:solidFill>
                <a:latin typeface="Consolas" panose="020B0609020204030204" pitchFamily="49" charset="0"/>
              </a:rPr>
              <a:t>map</a:t>
            </a:r>
            <a:r>
              <a:rPr lang="fi-FI" dirty="0">
                <a:solidFill>
                  <a:srgbClr val="000000"/>
                </a:solidFill>
                <a:latin typeface="Consolas" panose="020B0609020204030204" pitchFamily="49" charset="0"/>
              </a:rPr>
              <a:t>((</a:t>
            </a:r>
            <a:r>
              <a:rPr lang="fi-FI" dirty="0">
                <a:solidFill>
                  <a:srgbClr val="001080"/>
                </a:solidFill>
                <a:latin typeface="Consolas" panose="020B0609020204030204" pitchFamily="49" charset="0"/>
              </a:rPr>
              <a:t>luku</a:t>
            </a:r>
            <a:r>
              <a:rPr lang="fi-FI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fi-FI" dirty="0">
                <a:solidFill>
                  <a:srgbClr val="0000FF"/>
                </a:solidFill>
                <a:latin typeface="Consolas" panose="020B0609020204030204" pitchFamily="49" charset="0"/>
              </a:rPr>
              <a:t>=&gt;</a:t>
            </a:r>
            <a:r>
              <a:rPr lang="fi-FI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i-FI" dirty="0">
                <a:solidFill>
                  <a:srgbClr val="001080"/>
                </a:solidFill>
                <a:latin typeface="Consolas" panose="020B0609020204030204" pitchFamily="49" charset="0"/>
              </a:rPr>
              <a:t>luku</a:t>
            </a:r>
            <a:r>
              <a:rPr lang="fi-FI" dirty="0">
                <a:solidFill>
                  <a:srgbClr val="000000"/>
                </a:solidFill>
                <a:latin typeface="Consolas" panose="020B0609020204030204" pitchFamily="49" charset="0"/>
              </a:rPr>
              <a:t> * </a:t>
            </a:r>
            <a:r>
              <a:rPr lang="fi-FI" dirty="0">
                <a:solidFill>
                  <a:srgbClr val="09885A"/>
                </a:solidFill>
                <a:latin typeface="Consolas" panose="020B0609020204030204" pitchFamily="49" charset="0"/>
              </a:rPr>
              <a:t>2</a:t>
            </a:r>
            <a:r>
              <a:rPr lang="fi-FI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fi-FI" dirty="0">
                <a:solidFill>
                  <a:srgbClr val="267F99"/>
                </a:solidFill>
                <a:latin typeface="Consolas" panose="020B0609020204030204" pitchFamily="49" charset="0"/>
              </a:rPr>
              <a:t>console</a:t>
            </a:r>
            <a:r>
              <a:rPr lang="fi-FI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fi-FI" dirty="0">
                <a:solidFill>
                  <a:srgbClr val="795E26"/>
                </a:solidFill>
                <a:latin typeface="Consolas" panose="020B0609020204030204" pitchFamily="49" charset="0"/>
              </a:rPr>
              <a:t>log</a:t>
            </a:r>
            <a:r>
              <a:rPr lang="fi-FI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i-FI" dirty="0">
                <a:solidFill>
                  <a:srgbClr val="001080"/>
                </a:solidFill>
                <a:latin typeface="Consolas" panose="020B0609020204030204" pitchFamily="49" charset="0"/>
              </a:rPr>
              <a:t>m1</a:t>
            </a:r>
            <a:r>
              <a:rPr lang="fi-FI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</a:p>
          <a:p>
            <a:br>
              <a:rPr lang="fi-FI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fi-FI" dirty="0" err="1">
                <a:solidFill>
                  <a:srgbClr val="0000FF"/>
                </a:solidFill>
                <a:latin typeface="Consolas" panose="020B0609020204030204" pitchFamily="49" charset="0"/>
              </a:rPr>
              <a:t>const</a:t>
            </a:r>
            <a:r>
              <a:rPr lang="fi-FI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i-FI" dirty="0">
                <a:solidFill>
                  <a:srgbClr val="001080"/>
                </a:solidFill>
                <a:latin typeface="Consolas" panose="020B0609020204030204" pitchFamily="49" charset="0"/>
              </a:rPr>
              <a:t>m2</a:t>
            </a:r>
            <a:r>
              <a:rPr lang="fi-FI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fi-FI" dirty="0" err="1">
                <a:solidFill>
                  <a:srgbClr val="001080"/>
                </a:solidFill>
                <a:latin typeface="Consolas" panose="020B0609020204030204" pitchFamily="49" charset="0"/>
              </a:rPr>
              <a:t>t</a:t>
            </a:r>
            <a:r>
              <a:rPr lang="fi-FI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fi-FI" dirty="0" err="1">
                <a:solidFill>
                  <a:srgbClr val="795E26"/>
                </a:solidFill>
                <a:latin typeface="Consolas" panose="020B0609020204030204" pitchFamily="49" charset="0"/>
              </a:rPr>
              <a:t>map</a:t>
            </a:r>
            <a:r>
              <a:rPr lang="fi-FI" dirty="0">
                <a:solidFill>
                  <a:srgbClr val="000000"/>
                </a:solidFill>
                <a:latin typeface="Consolas" panose="020B0609020204030204" pitchFamily="49" charset="0"/>
              </a:rPr>
              <a:t>((</a:t>
            </a:r>
            <a:r>
              <a:rPr lang="fi-FI" dirty="0">
                <a:solidFill>
                  <a:srgbClr val="001080"/>
                </a:solidFill>
                <a:latin typeface="Consolas" panose="020B0609020204030204" pitchFamily="49" charset="0"/>
              </a:rPr>
              <a:t>luku</a:t>
            </a:r>
            <a:r>
              <a:rPr lang="fi-FI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fi-FI" dirty="0">
                <a:solidFill>
                  <a:srgbClr val="0000FF"/>
                </a:solidFill>
                <a:latin typeface="Consolas" panose="020B0609020204030204" pitchFamily="49" charset="0"/>
              </a:rPr>
              <a:t>=&gt;</a:t>
            </a:r>
            <a:r>
              <a:rPr lang="fi-FI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i-FI" dirty="0">
                <a:solidFill>
                  <a:srgbClr val="A31515"/>
                </a:solidFill>
                <a:latin typeface="Consolas" panose="020B0609020204030204" pitchFamily="49" charset="0"/>
              </a:rPr>
              <a:t>'&lt;li&gt;'</a:t>
            </a:r>
            <a:r>
              <a:rPr lang="fi-FI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fi-FI" dirty="0">
                <a:solidFill>
                  <a:srgbClr val="001080"/>
                </a:solidFill>
                <a:latin typeface="Consolas" panose="020B0609020204030204" pitchFamily="49" charset="0"/>
              </a:rPr>
              <a:t>luku</a:t>
            </a:r>
            <a:r>
              <a:rPr lang="fi-FI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fi-FI" dirty="0">
                <a:solidFill>
                  <a:srgbClr val="A31515"/>
                </a:solidFill>
                <a:latin typeface="Consolas" panose="020B0609020204030204" pitchFamily="49" charset="0"/>
              </a:rPr>
              <a:t>'&lt;/li&gt;'</a:t>
            </a:r>
            <a:r>
              <a:rPr lang="fi-FI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fi-FI" dirty="0">
                <a:solidFill>
                  <a:srgbClr val="267F99"/>
                </a:solidFill>
                <a:latin typeface="Consolas" panose="020B0609020204030204" pitchFamily="49" charset="0"/>
              </a:rPr>
              <a:t>console</a:t>
            </a:r>
            <a:r>
              <a:rPr lang="fi-FI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fi-FI" dirty="0">
                <a:solidFill>
                  <a:srgbClr val="795E26"/>
                </a:solidFill>
                <a:latin typeface="Consolas" panose="020B0609020204030204" pitchFamily="49" charset="0"/>
              </a:rPr>
              <a:t>log</a:t>
            </a:r>
            <a:r>
              <a:rPr lang="fi-FI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fi-FI" dirty="0">
                <a:solidFill>
                  <a:srgbClr val="001080"/>
                </a:solidFill>
                <a:latin typeface="Consolas" panose="020B0609020204030204" pitchFamily="49" charset="0"/>
              </a:rPr>
              <a:t>m2</a:t>
            </a:r>
            <a:r>
              <a:rPr lang="fi-FI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endParaRPr lang="fi-FI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37177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FFF24AED-A604-9A17-DB4F-906E1A05C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Destruktoiva</a:t>
            </a:r>
            <a:r>
              <a:rPr lang="fi-FI" dirty="0"/>
              <a:t> sijoituslause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E2CE6736-DA46-7634-873A-FCF4E9BC08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141039" cy="1896369"/>
          </a:xfrm>
        </p:spPr>
        <p:txBody>
          <a:bodyPr>
            <a:normAutofit fontScale="92500" lnSpcReduction="10000"/>
          </a:bodyPr>
          <a:lstStyle/>
          <a:p>
            <a:r>
              <a:rPr lang="fi-FI" dirty="0"/>
              <a:t>Taulukon yksittäisiä alkioita voidaan sijoittaa muuttujiin </a:t>
            </a:r>
            <a:r>
              <a:rPr lang="fi-FI" dirty="0" err="1"/>
              <a:t>destrukturoivan</a:t>
            </a:r>
            <a:r>
              <a:rPr lang="fi-FI" dirty="0"/>
              <a:t> sijoituslauseen avulla. </a:t>
            </a:r>
          </a:p>
          <a:p>
            <a:r>
              <a:rPr lang="fi-FI" dirty="0"/>
              <a:t>Alla olevassa esimerkissä muuttujiin </a:t>
            </a:r>
            <a:r>
              <a:rPr lang="fi-FI" dirty="0" err="1"/>
              <a:t>first</a:t>
            </a:r>
            <a:r>
              <a:rPr lang="fi-FI" dirty="0"/>
              <a:t> ja </a:t>
            </a:r>
            <a:r>
              <a:rPr lang="fi-FI" dirty="0" err="1"/>
              <a:t>second</a:t>
            </a:r>
            <a:r>
              <a:rPr lang="fi-FI" dirty="0"/>
              <a:t> sijoitetaan taulukon kaksi ensimmäistä lukua. Muuttujaan </a:t>
            </a:r>
            <a:r>
              <a:rPr lang="fi-FI" dirty="0" err="1"/>
              <a:t>rest</a:t>
            </a:r>
            <a:r>
              <a:rPr lang="fi-FI" dirty="0"/>
              <a:t> kerätään sijoituksesta jäljelle jääneet luvut omaksi taulukoksi.</a:t>
            </a:r>
          </a:p>
        </p:txBody>
      </p:sp>
      <p:sp>
        <p:nvSpPr>
          <p:cNvPr id="4" name="Tekstiruutu 3">
            <a:extLst>
              <a:ext uri="{FF2B5EF4-FFF2-40B4-BE49-F238E27FC236}">
                <a16:creationId xmlns:a16="http://schemas.microsoft.com/office/drawing/2014/main" id="{67650F3F-F3BB-07EE-97C4-E29CFAA08538}"/>
              </a:ext>
            </a:extLst>
          </p:cNvPr>
          <p:cNvSpPr txBox="1"/>
          <p:nvPr/>
        </p:nvSpPr>
        <p:spPr>
          <a:xfrm>
            <a:off x="927279" y="4108361"/>
            <a:ext cx="6263253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 = [</a:t>
            </a:r>
            <a:r>
              <a:rPr lang="fi-FI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i-FI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i-FI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fi-FI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i-FI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fi-FI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i-FI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fi-FI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i-FI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fi-FI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br>
              <a:rPr lang="fi-FI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fi-FI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fi-FI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i-FI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fi-FI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...</a:t>
            </a:r>
            <a:r>
              <a:rPr lang="fi-FI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rest</a:t>
            </a:r>
            <a:r>
              <a:rPr lang="fi-FI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t</a:t>
            </a:r>
          </a:p>
          <a:p>
            <a:br>
              <a:rPr lang="fi-FI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console.log(</a:t>
            </a:r>
            <a:r>
              <a:rPr lang="fi-FI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fi-FI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i-FI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second</a:t>
            </a:r>
            <a:r>
              <a:rPr lang="fi-FI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</a:t>
            </a:r>
            <a:r>
              <a:rPr lang="fi-FI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tulostuu 1, 2</a:t>
            </a:r>
            <a:endParaRPr lang="fi-FI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console.log(</a:t>
            </a:r>
            <a:r>
              <a:rPr lang="fi-FI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rest</a:t>
            </a:r>
            <a:r>
              <a:rPr lang="fi-FI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         </a:t>
            </a:r>
            <a:r>
              <a:rPr lang="fi-FI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tulostuu [3, 4 ,5]</a:t>
            </a:r>
            <a:endParaRPr lang="fi-FI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64619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780C135C-214A-2E2B-9730-2B60FE1EFC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Oliot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4DFD49C8-8739-3F8A-B428-C3B0A4BE17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16758" cy="4667250"/>
          </a:xfrm>
        </p:spPr>
        <p:txBody>
          <a:bodyPr>
            <a:normAutofit/>
          </a:bodyPr>
          <a:lstStyle/>
          <a:p>
            <a:r>
              <a:rPr lang="fi-FI" dirty="0"/>
              <a:t>JavaScriptissä on eri tapoja määritellä olioita.</a:t>
            </a:r>
          </a:p>
          <a:p>
            <a:r>
              <a:rPr lang="fi-FI" dirty="0"/>
              <a:t>Yleisesti käytetään olioliteraaleja, eli määritellään olio luettelemalla sen kentät aaltosulkeiden sisällä.</a:t>
            </a:r>
          </a:p>
          <a:p>
            <a:r>
              <a:rPr lang="fi-FI" dirty="0"/>
              <a:t> JavaScriptissä ei ole luokkia samassa mielessä kuin olio-ohjelmointikielissä</a:t>
            </a:r>
          </a:p>
        </p:txBody>
      </p:sp>
      <p:sp>
        <p:nvSpPr>
          <p:cNvPr id="5" name="Tekstiruutu 4">
            <a:extLst>
              <a:ext uri="{FF2B5EF4-FFF2-40B4-BE49-F238E27FC236}">
                <a16:creationId xmlns:a16="http://schemas.microsoft.com/office/drawing/2014/main" id="{3601AC9E-9B50-9087-DEEF-8E07F6E6FE4E}"/>
              </a:ext>
            </a:extLst>
          </p:cNvPr>
          <p:cNvSpPr txBox="1"/>
          <p:nvPr/>
        </p:nvSpPr>
        <p:spPr>
          <a:xfrm>
            <a:off x="5140280" y="920621"/>
            <a:ext cx="6094926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matti = {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i-FI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'Matti'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i-FI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22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education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i-FI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'ylioppilas'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ohjelmoinnin_perusteet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i-FI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'Ohjelmoinnin perusteet'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level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i-FI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i-FI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basics</a:t>
            </a:r>
            <a:r>
              <a:rPr lang="fi-FI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size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i-FI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22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jukka = {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{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first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i-FI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'Jukka'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last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i-FI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'Lahtinen'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},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grades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[</a:t>
            </a:r>
            <a:r>
              <a:rPr lang="fi-FI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i-FI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i-FI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i-FI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],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department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i-FI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'TITE'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</p:txBody>
      </p:sp>
    </p:spTree>
    <p:extLst>
      <p:ext uri="{BB962C8B-B14F-4D97-AF65-F5344CB8AC3E}">
        <p14:creationId xmlns:p14="http://schemas.microsoft.com/office/powerpoint/2010/main" val="124043537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AB335F95-EEDF-AEE6-C3C2-F1EB7EEF3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Olion käyttäminen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6DAA2FF7-7202-05C5-14D1-D65CDB69A8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126606" cy="4351338"/>
          </a:xfrm>
        </p:spPr>
        <p:txBody>
          <a:bodyPr/>
          <a:lstStyle/>
          <a:p>
            <a:r>
              <a:rPr lang="fi-FI" dirty="0"/>
              <a:t>Olioiden kenttiin viitataan pistenotaatiolla tai hakasulkeilla</a:t>
            </a:r>
          </a:p>
          <a:p>
            <a:r>
              <a:rPr lang="fi-FI" dirty="0"/>
              <a:t>Olioille voidaan lisätä kenttiä myös lennossa joko pistenotaation tai hakasulkeiden avulla.</a:t>
            </a:r>
          </a:p>
        </p:txBody>
      </p:sp>
      <p:sp>
        <p:nvSpPr>
          <p:cNvPr id="7" name="Tekstiruutu 6">
            <a:extLst>
              <a:ext uri="{FF2B5EF4-FFF2-40B4-BE49-F238E27FC236}">
                <a16:creationId xmlns:a16="http://schemas.microsoft.com/office/drawing/2014/main" id="{1E922FFC-57B6-9089-19CC-3D8F0E3E182A}"/>
              </a:ext>
            </a:extLst>
          </p:cNvPr>
          <p:cNvSpPr txBox="1"/>
          <p:nvPr/>
        </p:nvSpPr>
        <p:spPr>
          <a:xfrm>
            <a:off x="5558845" y="1825625"/>
            <a:ext cx="609492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console.log(matti.name)</a:t>
            </a:r>
          </a:p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fieldName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'age'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console.log(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matti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fieldName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])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matti.address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'Ilmajoki'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matti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'secret number'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en-US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43244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console.log(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matti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console.log(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jukka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95789381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94EB4F7A-5EBF-B55B-523A-D959A4CF4A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Funktiot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578E3764-0E15-C8D9-CEC7-294F8C857C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38730" cy="4351338"/>
          </a:xfrm>
        </p:spPr>
        <p:txBody>
          <a:bodyPr/>
          <a:lstStyle/>
          <a:p>
            <a:r>
              <a:rPr lang="fi-FI" dirty="0"/>
              <a:t>Käytetään nuolifunktioita</a:t>
            </a:r>
          </a:p>
          <a:p>
            <a:endParaRPr lang="fi-FI" dirty="0"/>
          </a:p>
          <a:p>
            <a:r>
              <a:rPr lang="fi-FI" dirty="0"/>
              <a:t>Jos parametreja on yksi, voidaan jättää sulut pois</a:t>
            </a:r>
          </a:p>
          <a:p>
            <a:endParaRPr lang="fi-FI" dirty="0"/>
          </a:p>
          <a:p>
            <a:r>
              <a:rPr lang="fi-FI" dirty="0"/>
              <a:t>Jos funktio sisältää vain yhden lausekkeen, ei aaltosulkeita tarvita.</a:t>
            </a:r>
          </a:p>
        </p:txBody>
      </p:sp>
      <p:sp>
        <p:nvSpPr>
          <p:cNvPr id="7" name="Tekstiruutu 6">
            <a:extLst>
              <a:ext uri="{FF2B5EF4-FFF2-40B4-BE49-F238E27FC236}">
                <a16:creationId xmlns:a16="http://schemas.microsoft.com/office/drawing/2014/main" id="{2A8D34D4-2CFD-5CFE-7C0A-6614D7496277}"/>
              </a:ext>
            </a:extLst>
          </p:cNvPr>
          <p:cNvSpPr txBox="1"/>
          <p:nvPr/>
        </p:nvSpPr>
        <p:spPr>
          <a:xfrm>
            <a:off x="6224790" y="515365"/>
            <a:ext cx="370106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(p1, p2) </a:t>
            </a:r>
            <a:r>
              <a:rPr lang="fi-FI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console.log(p1)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console.log(p2)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p1 + p2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console.log(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i-FI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fi-FI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</p:txBody>
      </p:sp>
      <p:sp>
        <p:nvSpPr>
          <p:cNvPr id="9" name="Tekstiruutu 8">
            <a:extLst>
              <a:ext uri="{FF2B5EF4-FFF2-40B4-BE49-F238E27FC236}">
                <a16:creationId xmlns:a16="http://schemas.microsoft.com/office/drawing/2014/main" id="{D215290B-1BD1-C989-8CDC-3275287BCCA8}"/>
              </a:ext>
            </a:extLst>
          </p:cNvPr>
          <p:cNvSpPr txBox="1"/>
          <p:nvPr/>
        </p:nvSpPr>
        <p:spPr>
          <a:xfrm>
            <a:off x="6224790" y="2777218"/>
            <a:ext cx="299916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square = p </a:t>
            </a:r>
            <a:r>
              <a:rPr lang="fi-FI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console.log(p)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 * p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fi-FI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1" name="Tekstiruutu 10">
            <a:extLst>
              <a:ext uri="{FF2B5EF4-FFF2-40B4-BE49-F238E27FC236}">
                <a16:creationId xmlns:a16="http://schemas.microsoft.com/office/drawing/2014/main" id="{93B92ED9-52BA-B04B-7657-A0427C77D7D1}"/>
              </a:ext>
            </a:extLst>
          </p:cNvPr>
          <p:cNvSpPr txBox="1"/>
          <p:nvPr/>
        </p:nvSpPr>
        <p:spPr>
          <a:xfrm>
            <a:off x="6224790" y="4423517"/>
            <a:ext cx="609492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square2 = p </a:t>
            </a:r>
            <a:r>
              <a:rPr lang="fi-FI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 * p</a:t>
            </a:r>
          </a:p>
        </p:txBody>
      </p:sp>
      <p:sp>
        <p:nvSpPr>
          <p:cNvPr id="13" name="Tekstiruutu 12">
            <a:extLst>
              <a:ext uri="{FF2B5EF4-FFF2-40B4-BE49-F238E27FC236}">
                <a16:creationId xmlns:a16="http://schemas.microsoft.com/office/drawing/2014/main" id="{908DA262-C3F0-2BB7-1AD4-B6619F86F13D}"/>
              </a:ext>
            </a:extLst>
          </p:cNvPr>
          <p:cNvSpPr txBox="1"/>
          <p:nvPr/>
        </p:nvSpPr>
        <p:spPr>
          <a:xfrm>
            <a:off x="6192593" y="5608151"/>
            <a:ext cx="61593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 = [</a:t>
            </a:r>
            <a:r>
              <a:rPr lang="fi-FI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i-FI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i-FI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</a:p>
          <a:p>
            <a:r>
              <a:rPr lang="fi-FI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tSquared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t.map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(p </a:t>
            </a:r>
            <a:r>
              <a:rPr lang="fi-FI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p * p)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console.log(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tSquared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i-FI" sz="1600" b="0" dirty="0">
                <a:solidFill>
                  <a:srgbClr val="008000"/>
                </a:solidFill>
                <a:effectLst/>
                <a:latin typeface="Consolas" panose="020B0609020204030204" pitchFamily="49" charset="0"/>
              </a:rPr>
              <a:t>// [ 1, 4, 9 ]</a:t>
            </a:r>
            <a:endParaRPr lang="fi-FI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353965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9DD8FD0B-5C02-D0D7-24C1-81AE70F8A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591" y="397324"/>
            <a:ext cx="4337228" cy="472002"/>
          </a:xfrm>
        </p:spPr>
        <p:txBody>
          <a:bodyPr>
            <a:normAutofit fontScale="90000"/>
          </a:bodyPr>
          <a:lstStyle/>
          <a:p>
            <a:r>
              <a:rPr lang="fi-FI" dirty="0"/>
              <a:t>Tehtävät 1.3 – 1.5</a:t>
            </a:r>
          </a:p>
        </p:txBody>
      </p:sp>
      <p:sp>
        <p:nvSpPr>
          <p:cNvPr id="7" name="Tekstiruutu 6">
            <a:extLst>
              <a:ext uri="{FF2B5EF4-FFF2-40B4-BE49-F238E27FC236}">
                <a16:creationId xmlns:a16="http://schemas.microsoft.com/office/drawing/2014/main" id="{D881166E-FF3B-8F63-D8D1-51A6E480A943}"/>
              </a:ext>
            </a:extLst>
          </p:cNvPr>
          <p:cNvSpPr txBox="1"/>
          <p:nvPr/>
        </p:nvSpPr>
        <p:spPr>
          <a:xfrm>
            <a:off x="6595593" y="447969"/>
            <a:ext cx="6094926" cy="61863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Header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&lt;h1&gt;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props.course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&lt;/h1&gt;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Content =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i-FI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Part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part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props.parts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i-FI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i-FI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Part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part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props.parts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i-FI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i-FI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Part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part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props.parts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i-FI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Part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props.part.name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props.part.exercises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Total =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Yhteensä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props.parts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i-FI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exercises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props.parts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i-FI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exercises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props.parts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fi-FI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].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exercises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}{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 "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tehtävää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</p:txBody>
      </p:sp>
      <p:sp>
        <p:nvSpPr>
          <p:cNvPr id="9" name="Tekstiruutu 8">
            <a:extLst>
              <a:ext uri="{FF2B5EF4-FFF2-40B4-BE49-F238E27FC236}">
                <a16:creationId xmlns:a16="http://schemas.microsoft.com/office/drawing/2014/main" id="{299E0DC7-F06E-6690-1812-46462C405E0A}"/>
              </a:ext>
            </a:extLst>
          </p:cNvPr>
          <p:cNvSpPr txBox="1"/>
          <p:nvPr/>
        </p:nvSpPr>
        <p:spPr>
          <a:xfrm>
            <a:off x="543865" y="1186633"/>
            <a:ext cx="4337228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()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course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i-FI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Half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Stack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-sovelluskehitys"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parts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[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{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i-FI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Reactin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perusteet"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exercises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i-FI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},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{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"Tiedonvälitys propseilla"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exercises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i-FI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7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},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{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"Komponenttien tila"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exercises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i-FI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14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}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]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};</a:t>
            </a:r>
          </a:p>
          <a:p>
            <a:b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i-FI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Header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course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course.name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&lt;Content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parts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course.parts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&lt;Total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parts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course.parts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);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};</a:t>
            </a:r>
          </a:p>
          <a:p>
            <a:b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745927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9F16A111-D171-981C-2822-5775AEC370B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i-FI" dirty="0"/>
              <a:t>Komponentin tila ja tapahtumankäsittely</a:t>
            </a:r>
          </a:p>
        </p:txBody>
      </p:sp>
      <p:sp>
        <p:nvSpPr>
          <p:cNvPr id="3" name="Alaotsikko 2">
            <a:extLst>
              <a:ext uri="{FF2B5EF4-FFF2-40B4-BE49-F238E27FC236}">
                <a16:creationId xmlns:a16="http://schemas.microsoft.com/office/drawing/2014/main" id="{C3319A55-BE80-618C-3349-8069FB8DE8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9861679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1FF3271F-E894-E19C-C1DA-F51201B49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Komponenttien apufunktiot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EA30D7D9-03E5-CFC6-A5E4-B92281616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00093" cy="4351338"/>
          </a:xfrm>
        </p:spPr>
        <p:txBody>
          <a:bodyPr>
            <a:normAutofit fontScale="85000" lnSpcReduction="10000"/>
          </a:bodyPr>
          <a:lstStyle/>
          <a:p>
            <a:r>
              <a:rPr lang="fi-FI" dirty="0"/>
              <a:t>Funktio </a:t>
            </a:r>
            <a:r>
              <a:rPr lang="fi-FI" dirty="0" err="1"/>
              <a:t>bornYear</a:t>
            </a:r>
            <a:r>
              <a:rPr lang="fi-FI" dirty="0"/>
              <a:t> on määritelty komponentin </a:t>
            </a:r>
            <a:r>
              <a:rPr lang="fi-FI" dirty="0" err="1"/>
              <a:t>Hello</a:t>
            </a:r>
            <a:r>
              <a:rPr lang="fi-FI" dirty="0"/>
              <a:t> sisällä.</a:t>
            </a:r>
          </a:p>
          <a:p>
            <a:r>
              <a:rPr lang="fi-FI" dirty="0"/>
              <a:t>Esimerkiksi Javassa metodien määrittely toisen metodin sisällä ei onnistu. (C#:</a:t>
            </a:r>
            <a:r>
              <a:rPr lang="fi-FI" dirty="0" err="1"/>
              <a:t>ssa</a:t>
            </a:r>
            <a:r>
              <a:rPr lang="fi-FI" dirty="0"/>
              <a:t> onnistuu kyllä)</a:t>
            </a:r>
          </a:p>
          <a:p>
            <a:r>
              <a:rPr lang="fi-FI" dirty="0" err="1"/>
              <a:t>JavaScriptissa</a:t>
            </a:r>
            <a:r>
              <a:rPr lang="fi-FI" dirty="0"/>
              <a:t> funktioiden sisällä määritellyt funktiot on hyvin yleisesti käytetty tekniikka.</a:t>
            </a:r>
          </a:p>
          <a:p>
            <a:r>
              <a:rPr lang="fi-FI" dirty="0"/>
              <a:t>Huomaa, että ikää ei tarvitse välittää apufunktiolle parametrina, sillä sisäfunktio näkee ulomman funktion propsit</a:t>
            </a:r>
          </a:p>
        </p:txBody>
      </p:sp>
      <p:sp>
        <p:nvSpPr>
          <p:cNvPr id="5" name="Tekstiruutu 4">
            <a:extLst>
              <a:ext uri="{FF2B5EF4-FFF2-40B4-BE49-F238E27FC236}">
                <a16:creationId xmlns:a16="http://schemas.microsoft.com/office/drawing/2014/main" id="{57A284BD-E2B3-1692-E091-1C30F8F12585}"/>
              </a:ext>
            </a:extLst>
          </p:cNvPr>
          <p:cNvSpPr txBox="1"/>
          <p:nvPr/>
        </p:nvSpPr>
        <p:spPr>
          <a:xfrm>
            <a:off x="6096000" y="1347166"/>
            <a:ext cx="5298046" cy="54476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bornYear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()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yearNow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Date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().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getFullYear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yearNow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-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props.age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b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props.name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you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are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props.age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years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old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So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you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were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probably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born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bornYear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()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nimi = 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'Pekka'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ika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i-FI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&lt;h1&gt;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Greetings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&lt;/h1&gt;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i-FI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"Maya"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26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fi-FI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i-FI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Hello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nimi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ika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72550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3B081715-4ADB-42BC-6A57-CAC51EF43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Destrukturointi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B7E33DA8-E1C9-EFF7-A578-B895816E09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817513" cy="4351338"/>
          </a:xfrm>
        </p:spPr>
        <p:txBody>
          <a:bodyPr>
            <a:normAutofit fontScale="92500"/>
          </a:bodyPr>
          <a:lstStyle/>
          <a:p>
            <a:r>
              <a:rPr lang="fi-FI" dirty="0" err="1"/>
              <a:t>Destrukturointi</a:t>
            </a:r>
            <a:r>
              <a:rPr lang="fi-FI" dirty="0"/>
              <a:t> helpottaa apumuuttujien määrittelyä.</a:t>
            </a:r>
          </a:p>
          <a:p>
            <a:r>
              <a:rPr lang="fi-FI" dirty="0" err="1"/>
              <a:t>Destruktoinnin</a:t>
            </a:r>
            <a:r>
              <a:rPr lang="fi-FI" dirty="0"/>
              <a:t> avulla voidaan kopioida olion oliomuuttujien arvot suoraan omiin yksittäisiin muuttujiin</a:t>
            </a:r>
          </a:p>
          <a:p>
            <a:r>
              <a:rPr lang="fi-FI" dirty="0"/>
              <a:t>Huomaa myös </a:t>
            </a:r>
            <a:r>
              <a:rPr lang="fi-FI" dirty="0" err="1"/>
              <a:t>bornYear</a:t>
            </a:r>
            <a:r>
              <a:rPr lang="fi-FI" dirty="0"/>
              <a:t>-funktion lyhyempi muoto</a:t>
            </a:r>
          </a:p>
        </p:txBody>
      </p:sp>
      <p:sp>
        <p:nvSpPr>
          <p:cNvPr id="9" name="Tekstiruutu 8">
            <a:extLst>
              <a:ext uri="{FF2B5EF4-FFF2-40B4-BE49-F238E27FC236}">
                <a16:creationId xmlns:a16="http://schemas.microsoft.com/office/drawing/2014/main" id="{C342FBD6-D875-BA52-50E6-98AC452AFF33}"/>
              </a:ext>
            </a:extLst>
          </p:cNvPr>
          <p:cNvSpPr txBox="1"/>
          <p:nvPr/>
        </p:nvSpPr>
        <p:spPr>
          <a:xfrm>
            <a:off x="5100034" y="2223013"/>
            <a:ext cx="648934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Hello = ({ name, age })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bornYear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()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Date().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getFullYear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- age</a:t>
            </a:r>
          </a:p>
          <a:p>
            <a:b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Hello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name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you are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age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years old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&lt;p&gt;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So you were probably born 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bornYear</a:t>
            </a:r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  <a:r>
              <a:rPr lang="en-US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&lt;/p&gt;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US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</a:t>
            </a:r>
          </a:p>
          <a:p>
            <a:r>
              <a:rPr lang="en-US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507453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904484A1-C1A1-1C12-83CC-DE415F2BF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Tilallinen komponentti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5613602B-B646-5E1B-23EC-F0A19FBA95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59569" cy="4351338"/>
          </a:xfrm>
        </p:spPr>
        <p:txBody>
          <a:bodyPr>
            <a:normAutofit fontScale="85000" lnSpcReduction="20000"/>
          </a:bodyPr>
          <a:lstStyle/>
          <a:p>
            <a:r>
              <a:rPr lang="fi-FI" dirty="0"/>
              <a:t>Tehdään sovellus, joka päivittää laskuria kerran sekunnissa</a:t>
            </a:r>
          </a:p>
          <a:p>
            <a:r>
              <a:rPr lang="fi-FI" dirty="0" err="1"/>
              <a:t>useState</a:t>
            </a:r>
            <a:r>
              <a:rPr lang="fi-FI" dirty="0"/>
              <a:t>(0) luo komponentille </a:t>
            </a:r>
            <a:r>
              <a:rPr lang="fi-FI" i="1" dirty="0"/>
              <a:t>tilan</a:t>
            </a:r>
            <a:r>
              <a:rPr lang="fi-FI" dirty="0"/>
              <a:t>, joka saa alkuarvokseen nollan. Funktio palauttaa taulukon, jossa alkiot </a:t>
            </a:r>
            <a:r>
              <a:rPr lang="fi-FI" i="1" dirty="0" err="1"/>
              <a:t>counter</a:t>
            </a:r>
            <a:r>
              <a:rPr lang="fi-FI" dirty="0"/>
              <a:t> ja </a:t>
            </a:r>
            <a:r>
              <a:rPr lang="fi-FI" i="1" dirty="0" err="1"/>
              <a:t>setCounter</a:t>
            </a:r>
            <a:r>
              <a:rPr lang="fi-FI" i="1" dirty="0"/>
              <a:t>.</a:t>
            </a:r>
          </a:p>
          <a:p>
            <a:r>
              <a:rPr lang="fi-FI" dirty="0"/>
              <a:t>Muuttujassa </a:t>
            </a:r>
            <a:r>
              <a:rPr lang="fi-FI" dirty="0" err="1"/>
              <a:t>counter</a:t>
            </a:r>
            <a:r>
              <a:rPr lang="fi-FI" dirty="0"/>
              <a:t> on tilan arvo</a:t>
            </a:r>
          </a:p>
          <a:p>
            <a:r>
              <a:rPr lang="fi-FI" dirty="0"/>
              <a:t>Muuttuja </a:t>
            </a:r>
            <a:r>
              <a:rPr lang="fi-FI" dirty="0" err="1"/>
              <a:t>setCounter</a:t>
            </a:r>
            <a:r>
              <a:rPr lang="fi-FI" dirty="0"/>
              <a:t> on viite funktioon, jonka avulla tilaa voidaan muuttaa</a:t>
            </a:r>
          </a:p>
          <a:p>
            <a:r>
              <a:rPr lang="fi-FI" dirty="0"/>
              <a:t>Kun funktiota </a:t>
            </a:r>
            <a:r>
              <a:rPr lang="fi-FI" dirty="0" err="1"/>
              <a:t>setCounter</a:t>
            </a:r>
            <a:r>
              <a:rPr lang="fi-FI" dirty="0"/>
              <a:t> kutsutaan, renderöi </a:t>
            </a:r>
            <a:r>
              <a:rPr lang="fi-FI" dirty="0" err="1"/>
              <a:t>React</a:t>
            </a:r>
            <a:r>
              <a:rPr lang="fi-FI" dirty="0"/>
              <a:t> komponentin uudelleen, eli käytännössä suorittaa uudelleen </a:t>
            </a:r>
            <a:r>
              <a:rPr lang="fi-FI" dirty="0" err="1"/>
              <a:t>App</a:t>
            </a:r>
            <a:r>
              <a:rPr lang="fi-FI" dirty="0"/>
              <a:t>-komponentin koodin</a:t>
            </a:r>
            <a:endParaRPr lang="fi-FI" i="1" dirty="0"/>
          </a:p>
        </p:txBody>
      </p:sp>
      <p:sp>
        <p:nvSpPr>
          <p:cNvPr id="5" name="Tekstiruutu 4">
            <a:extLst>
              <a:ext uri="{FF2B5EF4-FFF2-40B4-BE49-F238E27FC236}">
                <a16:creationId xmlns:a16="http://schemas.microsoft.com/office/drawing/2014/main" id="{8E62DE41-81C0-8E24-5376-4B22D93C3A99}"/>
              </a:ext>
            </a:extLst>
          </p:cNvPr>
          <p:cNvSpPr txBox="1"/>
          <p:nvPr/>
        </p:nvSpPr>
        <p:spPr>
          <a:xfrm>
            <a:off x="6602033" y="1825625"/>
            <a:ext cx="6094926" cy="42780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fi-FI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i-FI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fi-FI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endParaRPr lang="fi-FI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() </a:t>
            </a:r>
            <a:r>
              <a:rPr lang="fi-FI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setCounter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] =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i-FI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setTimeout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() </a:t>
            </a:r>
            <a:r>
              <a:rPr lang="fi-FI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setCounter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fi-FI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),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1000</a:t>
            </a:r>
            <a:endParaRPr lang="fi-FI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</a:t>
            </a:r>
          </a:p>
          <a:p>
            <a:b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console.log(</a:t>
            </a:r>
            <a:r>
              <a:rPr lang="fi-FI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i-FI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rendering</a:t>
            </a:r>
            <a:r>
              <a:rPr lang="fi-FI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...'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r>
              <a:rPr lang="fi-FI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fi-FI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fi-FI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</a:t>
            </a:r>
            <a:endParaRPr lang="fi-FI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653691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579BF1EE-4FDE-50D5-177C-F7F8ED8D64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Tapahtumankäsittely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6AD2F4E7-26EA-9390-7BB9-B2C6598B5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22065" cy="4351338"/>
          </a:xfrm>
        </p:spPr>
        <p:txBody>
          <a:bodyPr>
            <a:normAutofit lnSpcReduction="10000"/>
          </a:bodyPr>
          <a:lstStyle/>
          <a:p>
            <a:r>
              <a:rPr lang="fi-FI" dirty="0"/>
              <a:t>Muutetaan sovellusta siten, että laskurin kasvaminen tapahtuu </a:t>
            </a:r>
            <a:r>
              <a:rPr lang="fi-FI" dirty="0" err="1"/>
              <a:t>buttonia</a:t>
            </a:r>
            <a:r>
              <a:rPr lang="fi-FI" dirty="0"/>
              <a:t> painamalla</a:t>
            </a:r>
          </a:p>
          <a:p>
            <a:r>
              <a:rPr lang="fi-FI" dirty="0"/>
              <a:t>Button-elementit tukevat mm. hiiritapahtumia (esim. </a:t>
            </a:r>
            <a:r>
              <a:rPr lang="fi-FI" dirty="0" err="1"/>
              <a:t>click</a:t>
            </a:r>
            <a:r>
              <a:rPr lang="fi-FI" dirty="0"/>
              <a:t>)</a:t>
            </a:r>
          </a:p>
          <a:p>
            <a:r>
              <a:rPr lang="fi-FI" dirty="0"/>
              <a:t>Funktion rekisteröiminen tapahtumankäsittelijäksi tapahtumalle </a:t>
            </a:r>
            <a:r>
              <a:rPr lang="fi-FI" dirty="0" err="1"/>
              <a:t>click</a:t>
            </a:r>
            <a:r>
              <a:rPr lang="fi-FI" dirty="0"/>
              <a:t> on näytetty oheisessa esimerkissä</a:t>
            </a:r>
          </a:p>
          <a:p>
            <a:r>
              <a:rPr lang="fi-FI" dirty="0"/>
              <a:t>Laskuri ei toimi vielä kuitenkaan</a:t>
            </a:r>
          </a:p>
        </p:txBody>
      </p:sp>
      <p:sp>
        <p:nvSpPr>
          <p:cNvPr id="5" name="Tekstiruutu 4">
            <a:extLst>
              <a:ext uri="{FF2B5EF4-FFF2-40B4-BE49-F238E27FC236}">
                <a16:creationId xmlns:a16="http://schemas.microsoft.com/office/drawing/2014/main" id="{FA8C8B09-A2C1-631C-A224-B23C056ED42A}"/>
              </a:ext>
            </a:extLst>
          </p:cNvPr>
          <p:cNvSpPr txBox="1"/>
          <p:nvPr/>
        </p:nvSpPr>
        <p:spPr>
          <a:xfrm>
            <a:off x="6170591" y="1127897"/>
            <a:ext cx="6094926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fi-FI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i-FI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fi-FI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endParaRPr lang="fi-FI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() </a:t>
            </a:r>
            <a:r>
              <a:rPr lang="fi-FI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setCounter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] =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i-FI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handleClick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() </a:t>
            </a:r>
            <a:r>
              <a:rPr lang="fi-FI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console.log(</a:t>
            </a:r>
            <a:r>
              <a:rPr lang="fi-FI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i-FI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clicked</a:t>
            </a:r>
            <a:r>
              <a:rPr lang="fi-FI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b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fi-FI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r>
              <a:rPr lang="fi-FI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fi-FI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fi-FI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i-FI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i-FI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handleClick</a:t>
            </a:r>
            <a:r>
              <a:rPr lang="fi-FI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fi-FI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plus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i-FI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fi-FI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fi-FI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fi-FI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</a:t>
            </a:r>
            <a:endParaRPr lang="fi-FI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fi-FI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549027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8ADC8B31-AD60-D24F-E572-9D86892964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Tapahtumankäsittely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EA395199-D7F9-797F-AA24-AE1EC93857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8131936" cy="698634"/>
          </a:xfrm>
        </p:spPr>
        <p:txBody>
          <a:bodyPr>
            <a:normAutofit fontScale="92500" lnSpcReduction="20000"/>
          </a:bodyPr>
          <a:lstStyle/>
          <a:p>
            <a:r>
              <a:rPr lang="fi-FI" dirty="0"/>
              <a:t>Tapahtumankäsittelijäfunktio voidaan määritellä myös suoraan </a:t>
            </a:r>
            <a:r>
              <a:rPr lang="fi-FI" dirty="0" err="1"/>
              <a:t>onClick</a:t>
            </a:r>
            <a:r>
              <a:rPr lang="fi-FI" dirty="0"/>
              <a:t>-määrittelyn yhteydessä</a:t>
            </a:r>
          </a:p>
        </p:txBody>
      </p:sp>
      <p:sp>
        <p:nvSpPr>
          <p:cNvPr id="5" name="Tekstiruutu 4">
            <a:extLst>
              <a:ext uri="{FF2B5EF4-FFF2-40B4-BE49-F238E27FC236}">
                <a16:creationId xmlns:a16="http://schemas.microsoft.com/office/drawing/2014/main" id="{ADD45A60-9C51-13F4-37B4-751C68C990DC}"/>
              </a:ext>
            </a:extLst>
          </p:cNvPr>
          <p:cNvSpPr txBox="1"/>
          <p:nvPr/>
        </p:nvSpPr>
        <p:spPr>
          <a:xfrm>
            <a:off x="973966" y="2998811"/>
            <a:ext cx="6094926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fi-FI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fi-FI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i-FI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fi-FI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endParaRPr lang="fi-FI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() </a:t>
            </a:r>
            <a:r>
              <a:rPr lang="fi-FI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 </a:t>
            </a:r>
            <a:r>
              <a:rPr lang="fi-FI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i-FI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setCounter</a:t>
            </a:r>
            <a: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] = </a:t>
            </a:r>
            <a:r>
              <a:rPr lang="fi-FI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i-FI" sz="14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fi-FI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r>
              <a:rPr lang="fi-FI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fi-FI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fi-FI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i-FI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i-FI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fi-FI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console.log(</a:t>
            </a:r>
            <a:r>
              <a:rPr lang="fi-FI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i-FI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clicked</a:t>
            </a:r>
            <a:r>
              <a:rPr lang="fi-FI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fi-FI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fi-FI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plus</a:t>
            </a:r>
          </a:p>
          <a:p>
            <a: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i-FI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fi-FI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fi-FI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fi-FI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</a:t>
            </a:r>
          </a:p>
          <a:p>
            <a: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</a:t>
            </a:r>
            <a:endParaRPr lang="fi-FI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185174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B5B5D30B-E2ED-50D4-8E07-3CD8D0E8F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Tapahtumankäsittely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591D8771-B0A9-0EB9-34A5-9659FE63F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61456" cy="503484"/>
          </a:xfrm>
        </p:spPr>
        <p:txBody>
          <a:bodyPr/>
          <a:lstStyle/>
          <a:p>
            <a:r>
              <a:rPr lang="fi-FI" dirty="0"/>
              <a:t>Toimiva koodi</a:t>
            </a:r>
          </a:p>
        </p:txBody>
      </p:sp>
      <p:sp>
        <p:nvSpPr>
          <p:cNvPr id="5" name="Tekstiruutu 4">
            <a:extLst>
              <a:ext uri="{FF2B5EF4-FFF2-40B4-BE49-F238E27FC236}">
                <a16:creationId xmlns:a16="http://schemas.microsoft.com/office/drawing/2014/main" id="{1781E0BE-FA45-C7EA-C3CD-39331849365D}"/>
              </a:ext>
            </a:extLst>
          </p:cNvPr>
          <p:cNvSpPr txBox="1"/>
          <p:nvPr/>
        </p:nvSpPr>
        <p:spPr>
          <a:xfrm>
            <a:off x="2004275" y="2512955"/>
            <a:ext cx="6978739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fi-FI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i-FI" sz="16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fi-FI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endParaRPr lang="fi-FI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() </a:t>
            </a:r>
            <a:r>
              <a:rPr lang="fi-FI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setCounter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] =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i-FI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fi-FI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r>
              <a:rPr lang="fi-FI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fi-FI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fi-FI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i-FI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6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i-FI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fi-FI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setCounter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counter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fi-FI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fi-FI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fi-FI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plus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i-FI" sz="16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fi-FI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fi-FI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fi-FI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</a:t>
            </a:r>
            <a:endParaRPr lang="fi-FI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3486064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7E0A4B-FFF3-3A93-60DB-C6A617E6B1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i-FI" dirty="0"/>
              <a:t>Lomakkeet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B6B656-4875-75C5-6E42-4A605BAD52B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4299025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A7DA2-E8CD-F5AC-02CB-C8931222AD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Lomakkeet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3C0057-F18C-BB84-88F1-21805D43C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692588" cy="4351338"/>
          </a:xfrm>
        </p:spPr>
        <p:txBody>
          <a:bodyPr>
            <a:normAutofit/>
          </a:bodyPr>
          <a:lstStyle/>
          <a:p>
            <a:r>
              <a:rPr lang="fi-FI" sz="2000" dirty="0"/>
              <a:t>Aloitetaan versiosta part2-1: </a:t>
            </a:r>
          </a:p>
          <a:p>
            <a:pPr lvl="1"/>
            <a:r>
              <a:rPr lang="fi-FI" sz="2000" dirty="0">
                <a:hlinkClick r:id="rId2"/>
              </a:rPr>
              <a:t>https://github.com/fullstack-hy2020/part2-notes-frontend/tree/part2-1/src</a:t>
            </a:r>
            <a:r>
              <a:rPr lang="fi-FI" sz="2000" dirty="0"/>
              <a:t> </a:t>
            </a:r>
          </a:p>
          <a:p>
            <a:pPr lvl="1"/>
            <a:r>
              <a:rPr lang="fi-FI" sz="2000" dirty="0"/>
              <a:t>Kopioi </a:t>
            </a:r>
            <a:r>
              <a:rPr lang="fi-FI" sz="2000" dirty="0" err="1"/>
              <a:t>main.jsx</a:t>
            </a:r>
            <a:r>
              <a:rPr lang="fi-FI" sz="2000" dirty="0"/>
              <a:t> tästä versiosta</a:t>
            </a:r>
          </a:p>
          <a:p>
            <a:r>
              <a:rPr lang="fi-FI" sz="2000" dirty="0"/>
              <a:t>Jatketaan kohdasta ”</a:t>
            </a:r>
            <a:r>
              <a:rPr lang="fi-FI" sz="2000" b="1" dirty="0"/>
              <a:t>Muistiinpanojen tallettaminen komponentin tilaan</a:t>
            </a:r>
            <a:r>
              <a:rPr lang="fi-FI" sz="2000" dirty="0"/>
              <a:t>”</a:t>
            </a:r>
          </a:p>
          <a:p>
            <a:r>
              <a:rPr lang="fi-FI" sz="2000" dirty="0"/>
              <a:t>Täydennetään koodia siten, että </a:t>
            </a:r>
            <a:r>
              <a:rPr lang="fi-FI" sz="2000" dirty="0" err="1"/>
              <a:t>main.jsx:ssä</a:t>
            </a:r>
            <a:r>
              <a:rPr lang="fi-FI" sz="2000" dirty="0"/>
              <a:t> määritelty lista välitetään </a:t>
            </a:r>
            <a:r>
              <a:rPr lang="fi-FI" sz="2000" dirty="0" err="1"/>
              <a:t>props:in</a:t>
            </a:r>
            <a:r>
              <a:rPr lang="fi-FI" sz="2000" dirty="0"/>
              <a:t> kautta </a:t>
            </a:r>
            <a:r>
              <a:rPr lang="fi-FI" sz="2000" dirty="0" err="1"/>
              <a:t>App</a:t>
            </a:r>
            <a:r>
              <a:rPr lang="fi-FI" sz="2000" dirty="0"/>
              <a:t>-komponentille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29EFB7-2F2A-108C-D3E3-7D6C636BC976}"/>
              </a:ext>
            </a:extLst>
          </p:cNvPr>
          <p:cNvSpPr txBox="1"/>
          <p:nvPr/>
        </p:nvSpPr>
        <p:spPr>
          <a:xfrm>
            <a:off x="5808215" y="1825625"/>
            <a:ext cx="6094520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fi-FI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fi-FI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i-FI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fi-FI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endParaRPr lang="fi-FI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'./</a:t>
            </a:r>
            <a:r>
              <a:rPr lang="fi-FI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components</a:t>
            </a:r>
            <a:r>
              <a:rPr lang="fi-FI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fi-FI" sz="14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i-FI" sz="14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endParaRPr lang="fi-FI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const</a:t>
            </a:r>
            <a:r>
              <a:rPr lang="fi-FI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fi-FI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App</a:t>
            </a:r>
            <a:r>
              <a:rPr lang="fi-FI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(</a:t>
            </a:r>
            <a:r>
              <a:rPr lang="fi-FI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props</a:t>
            </a:r>
            <a:r>
              <a:rPr lang="fi-FI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</a:t>
            </a:r>
            <a:r>
              <a:rPr lang="fi-FI" sz="14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=&gt;</a:t>
            </a:r>
            <a:r>
              <a:rPr lang="fi-FI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fi-FI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</a:t>
            </a:r>
            <a:r>
              <a:rPr lang="fi-FI" sz="14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const</a:t>
            </a:r>
            <a:r>
              <a:rPr lang="fi-FI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[</a:t>
            </a:r>
            <a:r>
              <a:rPr lang="fi-FI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notes</a:t>
            </a:r>
            <a:r>
              <a:rPr lang="fi-FI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setNotes] = </a:t>
            </a:r>
            <a:r>
              <a:rPr lang="fi-FI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useState</a:t>
            </a:r>
            <a:r>
              <a:rPr lang="fi-FI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fi-FI" sz="14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props.notes</a:t>
            </a:r>
            <a:r>
              <a:rPr lang="fi-FI" sz="14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  <a:p>
            <a:b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fi-FI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&lt;h1&gt;</a:t>
            </a:r>
            <a: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Notes</a:t>
            </a:r>
            <a:r>
              <a:rPr lang="fi-FI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&lt;/h1&gt;</a:t>
            </a:r>
            <a:endParaRPr lang="fi-FI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i-FI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fi-FI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fi-FI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i-FI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notes.map</a:t>
            </a:r>
            <a: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i-FI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fi-FI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i-FI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i-FI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note.id</a:t>
            </a:r>
            <a:r>
              <a:rPr lang="fi-FI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4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i-FI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i-FI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fi-FI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)</a:t>
            </a:r>
            <a:r>
              <a:rPr lang="fi-FI" sz="14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fi-FI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i-FI" sz="14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fi-FI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fi-FI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4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fi-FI" sz="14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</a:t>
            </a:r>
          </a:p>
          <a:p>
            <a: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4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4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fi-FI" sz="14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8790941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5D98D-F522-12A8-18FE-95D34B784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Lomakkeet - </a:t>
            </a:r>
            <a:r>
              <a:rPr lang="fi-FI" dirty="0" err="1"/>
              <a:t>Form</a:t>
            </a:r>
            <a:endParaRPr lang="fi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50B49-DF15-BA6C-1987-7322731FF2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6747"/>
            <a:ext cx="4648200" cy="4351338"/>
          </a:xfrm>
        </p:spPr>
        <p:txBody>
          <a:bodyPr>
            <a:normAutofit/>
          </a:bodyPr>
          <a:lstStyle/>
          <a:p>
            <a:r>
              <a:rPr lang="fi-FI" sz="2400" dirty="0"/>
              <a:t>Lisätään seuraavaksi komponenttiin tapahtumankäsittelijä (</a:t>
            </a:r>
            <a:r>
              <a:rPr lang="fi-FI" sz="2400" dirty="0" err="1"/>
              <a:t>addNote</a:t>
            </a:r>
            <a:r>
              <a:rPr lang="fi-FI" sz="2400" dirty="0"/>
              <a:t>) sekä lomake eli HTML </a:t>
            </a:r>
            <a:r>
              <a:rPr lang="fi-FI" sz="2400" dirty="0" err="1"/>
              <a:t>form</a:t>
            </a:r>
            <a:endParaRPr lang="fi-FI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43406D-1513-DAC7-198F-1E9F489822A3}"/>
              </a:ext>
            </a:extLst>
          </p:cNvPr>
          <p:cNvSpPr txBox="1"/>
          <p:nvPr/>
        </p:nvSpPr>
        <p:spPr>
          <a:xfrm>
            <a:off x="6012402" y="797510"/>
            <a:ext cx="609452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i-FI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'./</a:t>
            </a:r>
            <a:r>
              <a:rPr lang="fi-FI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components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fi-FI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notes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setNotes] =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props.notes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</a:b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addNote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(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event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</a:t>
            </a:r>
            <a:r>
              <a:rPr lang="fi-FI" sz="12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event.preventDefault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console.log(</a:t>
            </a:r>
            <a:r>
              <a:rPr lang="fi-FI" sz="12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'</a:t>
            </a:r>
            <a:r>
              <a:rPr lang="fi-FI" sz="12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button</a:t>
            </a:r>
            <a:r>
              <a:rPr lang="fi-FI" sz="12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clicked</a:t>
            </a:r>
            <a:r>
              <a:rPr lang="fi-FI" sz="12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'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event.target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}</a:t>
            </a:r>
          </a:p>
          <a:p>
            <a:b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&lt;h1&gt;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Notes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&lt;/h1&gt;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i-FI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notes.map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i-FI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note.id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)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i-FI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</a:t>
            </a:r>
            <a:r>
              <a:rPr lang="fi-FI" sz="12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</a:t>
            </a:r>
            <a:r>
              <a:rPr lang="fi-FI" sz="12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form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onSubmit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fi-FI" sz="12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{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addNote</a:t>
            </a:r>
            <a:r>
              <a:rPr lang="fi-FI" sz="12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  <a:r>
              <a:rPr lang="fi-FI" sz="12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&gt;</a:t>
            </a:r>
            <a:endParaRPr lang="fi-FI" sz="12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fi-FI" sz="12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&lt;input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/&gt;</a:t>
            </a:r>
            <a:endParaRPr lang="fi-FI" sz="12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fi-FI" sz="12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</a:t>
            </a:r>
            <a:r>
              <a:rPr lang="fi-FI" sz="12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button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type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fi-FI" sz="12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fi-FI" sz="12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submit</a:t>
            </a:r>
            <a:r>
              <a:rPr lang="fi-FI" sz="12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fi-FI" sz="12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&gt;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save</a:t>
            </a:r>
            <a:r>
              <a:rPr lang="fi-FI" sz="12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&lt;/</a:t>
            </a:r>
            <a:r>
              <a:rPr lang="fi-FI" sz="12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button</a:t>
            </a:r>
            <a:r>
              <a:rPr lang="fi-FI" sz="12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&gt;</a:t>
            </a:r>
            <a:endParaRPr lang="fi-FI" sz="12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</a:t>
            </a:r>
            <a:r>
              <a:rPr lang="fi-FI" sz="12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&lt;/</a:t>
            </a:r>
            <a:r>
              <a:rPr lang="fi-FI" sz="12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form</a:t>
            </a:r>
            <a:r>
              <a:rPr lang="fi-FI" sz="12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&gt;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  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547501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6AFD18-15A9-76DE-F9C8-50AEF8572C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Kontrolloitu komponentti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40847E-CA52-C8BF-6FC3-069B8978F2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25753" cy="4351338"/>
          </a:xfrm>
        </p:spPr>
        <p:txBody>
          <a:bodyPr>
            <a:normAutofit lnSpcReduction="10000"/>
          </a:bodyPr>
          <a:lstStyle/>
          <a:p>
            <a:r>
              <a:rPr lang="fi-FI" sz="2400" dirty="0"/>
              <a:t>Lisätään komponentille </a:t>
            </a:r>
            <a:r>
              <a:rPr lang="fi-FI" sz="2400" dirty="0" err="1"/>
              <a:t>App</a:t>
            </a:r>
            <a:r>
              <a:rPr lang="fi-FI" sz="2400" dirty="0"/>
              <a:t> tila </a:t>
            </a:r>
            <a:r>
              <a:rPr lang="fi-FI" sz="2400" dirty="0" err="1"/>
              <a:t>newNote</a:t>
            </a:r>
            <a:r>
              <a:rPr lang="fi-FI" sz="2400" dirty="0"/>
              <a:t> lomakkeen syötettä varten ja määritellään se input-komponentin attribuutin </a:t>
            </a:r>
            <a:r>
              <a:rPr lang="fi-FI" sz="2400" dirty="0" err="1"/>
              <a:t>value</a:t>
            </a:r>
            <a:r>
              <a:rPr lang="fi-FI" sz="2400" dirty="0"/>
              <a:t> arvoksi</a:t>
            </a:r>
          </a:p>
          <a:p>
            <a:pPr lvl="1"/>
            <a:r>
              <a:rPr lang="fi-FI" sz="2000" dirty="0" err="1"/>
              <a:t>value</a:t>
            </a:r>
            <a:r>
              <a:rPr lang="fi-FI" sz="2000" dirty="0"/>
              <a:t>={</a:t>
            </a:r>
            <a:r>
              <a:rPr lang="fi-FI" sz="2000" dirty="0" err="1"/>
              <a:t>newNote</a:t>
            </a:r>
            <a:r>
              <a:rPr lang="fi-FI" sz="2000" dirty="0"/>
              <a:t>}</a:t>
            </a:r>
            <a:endParaRPr lang="fi-FI" sz="2400" dirty="0"/>
          </a:p>
          <a:p>
            <a:r>
              <a:rPr lang="fi-FI" sz="2400" dirty="0"/>
              <a:t>Lisätään tapahtumankäsittelijä </a:t>
            </a:r>
            <a:r>
              <a:rPr lang="fi-FI" sz="2400" dirty="0" err="1"/>
              <a:t>handleNoteChange</a:t>
            </a:r>
            <a:r>
              <a:rPr lang="fi-FI" sz="2400" dirty="0"/>
              <a:t>, joka synkronoi syötekenttään tehdyt muutokset komponentin </a:t>
            </a:r>
            <a:r>
              <a:rPr lang="fi-FI" sz="2400" dirty="0" err="1"/>
              <a:t>App</a:t>
            </a:r>
            <a:r>
              <a:rPr lang="fi-FI" sz="2400" dirty="0"/>
              <a:t> tilaan.</a:t>
            </a:r>
          </a:p>
          <a:p>
            <a:r>
              <a:rPr lang="fi-FI" sz="2400" dirty="0"/>
              <a:t>Rekisteröidään tapahtumankäsittelijä</a:t>
            </a:r>
          </a:p>
          <a:p>
            <a:pPr lvl="1"/>
            <a:r>
              <a:rPr lang="fi-FI" sz="2000" dirty="0" err="1"/>
              <a:t>onChange</a:t>
            </a:r>
            <a:r>
              <a:rPr lang="fi-FI" sz="2000" dirty="0"/>
              <a:t>={</a:t>
            </a:r>
            <a:r>
              <a:rPr lang="fi-FI" sz="2000" dirty="0" err="1"/>
              <a:t>handleNoteChange</a:t>
            </a:r>
            <a:r>
              <a:rPr lang="fi-FI" sz="2000" dirty="0"/>
              <a:t>}</a:t>
            </a:r>
          </a:p>
          <a:p>
            <a:endParaRPr lang="fi-FI" sz="2400" dirty="0"/>
          </a:p>
          <a:p>
            <a:endParaRPr lang="fi-FI" sz="24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C475097-1A37-B49E-A3E3-0541F18BFAB8}"/>
              </a:ext>
            </a:extLst>
          </p:cNvPr>
          <p:cNvSpPr txBox="1"/>
          <p:nvPr/>
        </p:nvSpPr>
        <p:spPr>
          <a:xfrm>
            <a:off x="7157621" y="766732"/>
            <a:ext cx="4418860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fi-FI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fi-FI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props</a:t>
            </a:r>
            <a:r>
              <a:rPr lang="fi-FI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i-FI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i-FI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fi-FI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notes</a:t>
            </a:r>
            <a:r>
              <a:rPr lang="fi-FI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setNotes] = </a:t>
            </a:r>
            <a:r>
              <a:rPr lang="fi-FI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fi-FI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i-FI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props.notes</a:t>
            </a:r>
            <a:r>
              <a:rPr lang="fi-FI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i-FI" sz="10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</a:t>
            </a:r>
            <a:r>
              <a:rPr lang="fi-FI" sz="10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const</a:t>
            </a:r>
            <a:r>
              <a:rPr lang="fi-FI" sz="10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[</a:t>
            </a:r>
            <a:r>
              <a:rPr lang="fi-FI" sz="10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newNote</a:t>
            </a:r>
            <a:r>
              <a:rPr lang="fi-FI" sz="10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fi-FI" sz="10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setNewNote</a:t>
            </a:r>
            <a:r>
              <a:rPr lang="fi-FI" sz="10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] = </a:t>
            </a:r>
            <a:r>
              <a:rPr lang="fi-FI" sz="10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useState</a:t>
            </a:r>
            <a:r>
              <a:rPr lang="fi-FI" sz="10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</a:p>
          <a:p>
            <a:r>
              <a:rPr lang="fi-FI" sz="10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fi-FI" sz="10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'a </a:t>
            </a:r>
            <a:r>
              <a:rPr lang="fi-FI" sz="10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new</a:t>
            </a:r>
            <a:r>
              <a:rPr lang="fi-FI" sz="10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fi-FI" sz="10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note</a:t>
            </a:r>
            <a:r>
              <a:rPr lang="fi-FI" sz="10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...'</a:t>
            </a:r>
            <a:endParaRPr lang="fi-FI" sz="10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fi-FI" sz="10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) </a:t>
            </a:r>
          </a:p>
          <a:p>
            <a:br>
              <a:rPr lang="fi-FI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addNote</a:t>
            </a:r>
            <a:r>
              <a:rPr lang="fi-FI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fi-FI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fi-FI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i-FI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i-FI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event.preventDefault</a:t>
            </a:r>
            <a:r>
              <a:rPr lang="fi-FI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fi-FI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console.log(</a:t>
            </a:r>
            <a:r>
              <a:rPr lang="fi-FI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i-FI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fi-FI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clicked</a:t>
            </a:r>
            <a:r>
              <a:rPr lang="fi-FI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i-FI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i-FI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event.target</a:t>
            </a:r>
            <a:r>
              <a:rPr lang="fi-FI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i-FI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br>
              <a:rPr lang="fi-FI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0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</a:t>
            </a:r>
            <a:r>
              <a:rPr lang="fi-FI" sz="10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const</a:t>
            </a:r>
            <a:r>
              <a:rPr lang="fi-FI" sz="10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fi-FI" sz="10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handleNoteChange</a:t>
            </a:r>
            <a:r>
              <a:rPr lang="fi-FI" sz="10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(</a:t>
            </a:r>
            <a:r>
              <a:rPr lang="fi-FI" sz="10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event</a:t>
            </a:r>
            <a:r>
              <a:rPr lang="fi-FI" sz="10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</a:t>
            </a:r>
            <a:r>
              <a:rPr lang="fi-FI" sz="10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=&gt;</a:t>
            </a:r>
            <a:r>
              <a:rPr lang="fi-FI" sz="10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fi-FI" sz="10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console.log(</a:t>
            </a:r>
            <a:r>
              <a:rPr lang="fi-FI" sz="10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event.target.value</a:t>
            </a:r>
            <a:r>
              <a:rPr lang="fi-FI" sz="10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fi-FI" sz="10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fi-FI" sz="10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setNewNote</a:t>
            </a:r>
            <a:r>
              <a:rPr lang="fi-FI" sz="10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fi-FI" sz="10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event.target.value</a:t>
            </a:r>
            <a:r>
              <a:rPr lang="fi-FI" sz="10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fi-FI" sz="10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}</a:t>
            </a:r>
          </a:p>
          <a:p>
            <a:br>
              <a:rPr lang="fi-FI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0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i-FI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fi-FI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fi-FI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&lt;h1&gt;</a:t>
            </a:r>
            <a:r>
              <a:rPr lang="fi-FI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Notes</a:t>
            </a:r>
            <a:r>
              <a:rPr lang="fi-FI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&lt;/h1&gt;</a:t>
            </a:r>
            <a:endParaRPr lang="fi-FI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i-FI" sz="10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fi-FI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fi-FI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i-FI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notes.map</a:t>
            </a:r>
            <a:r>
              <a:rPr lang="fi-FI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i-FI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i-FI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fi-FI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fi-FI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i-FI" sz="10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i-FI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fi-FI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i-FI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note.id</a:t>
            </a:r>
            <a:r>
              <a:rPr lang="fi-FI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i-FI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i-FI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i-FI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fi-FI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)</a:t>
            </a:r>
            <a:r>
              <a:rPr lang="fi-FI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fi-FI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i-FI" sz="10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fi-FI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fi-FI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i-FI" sz="10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fi-FI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onSubmit</a:t>
            </a:r>
            <a:r>
              <a:rPr lang="fi-FI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i-FI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addNote</a:t>
            </a:r>
            <a:r>
              <a:rPr lang="fi-FI" sz="10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fi-FI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i-FI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endParaRPr lang="fi-FI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fi-FI" sz="1000" b="0" dirty="0" err="1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value</a:t>
            </a:r>
            <a:r>
              <a:rPr lang="fi-FI" sz="10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fi-FI" sz="10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{</a:t>
            </a:r>
            <a:r>
              <a:rPr lang="fi-FI" sz="10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newNote</a:t>
            </a:r>
            <a:r>
              <a:rPr lang="fi-FI" sz="10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  <a:endParaRPr lang="fi-FI" sz="10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fi-FI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fi-FI" sz="1000" b="0" dirty="0" err="1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onChange</a:t>
            </a:r>
            <a:r>
              <a:rPr lang="fi-FI" sz="10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fi-FI" sz="10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{</a:t>
            </a:r>
            <a:r>
              <a:rPr lang="fi-FI" sz="10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handleNoteChange</a:t>
            </a:r>
            <a:r>
              <a:rPr lang="fi-FI" sz="10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  <a:endParaRPr lang="fi-FI" sz="10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fi-FI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i-FI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fi-FI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i-FI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i-FI" sz="10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fi-FI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0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fi-FI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i-FI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i-FI" sz="10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submit</a:t>
            </a:r>
            <a:r>
              <a:rPr lang="fi-FI" sz="10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i-FI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i-FI" sz="10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save</a:t>
            </a:r>
            <a:r>
              <a:rPr lang="fi-FI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i-FI" sz="10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fi-FI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fi-FI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i-FI" sz="10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fi-FI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i-FI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</a:t>
            </a:r>
          </a:p>
          <a:p>
            <a:r>
              <a:rPr lang="fi-FI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0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fi-FI" sz="10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</a:t>
            </a:r>
          </a:p>
          <a:p>
            <a:r>
              <a:rPr lang="fi-FI" sz="10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178463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58764-8C80-6B94-C17B-5B74A12AD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Kontrolloitu komponentti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853617-D51A-FC44-D216-F0D8ECC722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28930" cy="4351338"/>
          </a:xfrm>
        </p:spPr>
        <p:txBody>
          <a:bodyPr>
            <a:normAutofit lnSpcReduction="10000"/>
          </a:bodyPr>
          <a:lstStyle/>
          <a:p>
            <a:r>
              <a:rPr lang="fi-FI" sz="2000" dirty="0"/>
              <a:t>Viimeistellään </a:t>
            </a:r>
            <a:r>
              <a:rPr lang="fi-FI" sz="2000" dirty="0" err="1"/>
              <a:t>addNote</a:t>
            </a:r>
            <a:r>
              <a:rPr lang="fi-FI" sz="2000" dirty="0"/>
              <a:t> niin, että uusi teksti tallentuu listaan</a:t>
            </a:r>
          </a:p>
          <a:p>
            <a:r>
              <a:rPr lang="fi-FI" sz="2000" dirty="0"/>
              <a:t>Ensin tehdään olio </a:t>
            </a:r>
            <a:r>
              <a:rPr lang="fi-FI" sz="2000" dirty="0" err="1"/>
              <a:t>noteObject</a:t>
            </a:r>
            <a:r>
              <a:rPr lang="fi-FI" sz="2000" dirty="0"/>
              <a:t>, jonka sisältökentän arvo saadaan komponentin tilasta </a:t>
            </a:r>
            <a:r>
              <a:rPr lang="fi-FI" sz="2000" dirty="0" err="1"/>
              <a:t>newNote</a:t>
            </a:r>
            <a:r>
              <a:rPr lang="fi-FI" sz="2000" dirty="0"/>
              <a:t>.</a:t>
            </a:r>
          </a:p>
          <a:p>
            <a:r>
              <a:rPr lang="fi-FI" sz="2000" dirty="0"/>
              <a:t>id generoidaan kaikkien muistiinpanojen lukumäärän perusteella.</a:t>
            </a:r>
          </a:p>
          <a:p>
            <a:r>
              <a:rPr lang="fi-FI" sz="2000" dirty="0"/>
              <a:t>Komennon </a:t>
            </a:r>
            <a:r>
              <a:rPr lang="fi-FI" sz="2000" dirty="0" err="1"/>
              <a:t>Math.random</a:t>
            </a:r>
            <a:r>
              <a:rPr lang="fi-FI" sz="2000" dirty="0"/>
              <a:t>() avulla muistiinpanosta tulee 50 %:n todennäköisyydellä tärkeä.</a:t>
            </a:r>
          </a:p>
          <a:p>
            <a:r>
              <a:rPr lang="fi-FI" sz="2000" dirty="0"/>
              <a:t>Uusi muistiinpano lisätään vanhojen perään </a:t>
            </a:r>
            <a:r>
              <a:rPr lang="fi-FI" sz="2000" dirty="0" err="1"/>
              <a:t>concat</a:t>
            </a:r>
            <a:r>
              <a:rPr lang="fi-FI" sz="2000" dirty="0"/>
              <a:t>-metodilla.</a:t>
            </a:r>
          </a:p>
          <a:p>
            <a:r>
              <a:rPr lang="fi-FI" sz="2000" dirty="0"/>
              <a:t>Tyhjennetään myös syötekenttä funktiolla </a:t>
            </a:r>
            <a:r>
              <a:rPr lang="fi-FI" sz="2000" dirty="0" err="1"/>
              <a:t>setNewNote</a:t>
            </a:r>
            <a:endParaRPr lang="fi-FI" sz="2000" dirty="0"/>
          </a:p>
          <a:p>
            <a:r>
              <a:rPr lang="fi-FI" sz="2000" dirty="0"/>
              <a:t>Ratkaisu: </a:t>
            </a:r>
            <a:r>
              <a:rPr lang="fi-FI" sz="2000" dirty="0">
                <a:hlinkClick r:id="rId2"/>
              </a:rPr>
              <a:t>https://github.com/fullstack-hy2020/part2-notes-frontend/tree/part2-2</a:t>
            </a:r>
            <a:r>
              <a:rPr lang="fi-FI" sz="2000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C4327D6-FDE3-5129-7F39-A9BFF3891A8A}"/>
              </a:ext>
            </a:extLst>
          </p:cNvPr>
          <p:cNvSpPr txBox="1"/>
          <p:nvPr/>
        </p:nvSpPr>
        <p:spPr>
          <a:xfrm>
            <a:off x="6811392" y="2278810"/>
            <a:ext cx="4747335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addNote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i-FI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event.preventDefault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6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noteObject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newNote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important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Math.random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&gt; </a:t>
            </a:r>
            <a:r>
              <a:rPr lang="fi-FI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0.5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id: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notes.length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fi-FI" sz="16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setNotes(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notes.concat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noteObject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setNewNote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i-FI" sz="16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i-FI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</p:txBody>
      </p:sp>
    </p:spTree>
    <p:extLst>
      <p:ext uri="{BB962C8B-B14F-4D97-AF65-F5344CB8AC3E}">
        <p14:creationId xmlns:p14="http://schemas.microsoft.com/office/powerpoint/2010/main" val="403463570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9BD37-9C27-A8A6-F0C1-E08BAFDFA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Näytettävien elementtien </a:t>
            </a:r>
            <a:r>
              <a:rPr lang="fi-FI" dirty="0" err="1"/>
              <a:t>filtteröinti</a:t>
            </a:r>
            <a:endParaRPr lang="fi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D12EB-DBEF-D0BA-7189-89C61B7222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26258" cy="1476868"/>
          </a:xfrm>
        </p:spPr>
        <p:txBody>
          <a:bodyPr>
            <a:normAutofit/>
          </a:bodyPr>
          <a:lstStyle/>
          <a:p>
            <a:r>
              <a:rPr lang="fi-FI" sz="2400" b="0" i="0" dirty="0">
                <a:solidFill>
                  <a:srgbClr val="33332D"/>
                </a:solidFill>
                <a:effectLst/>
                <a:latin typeface="IBM Plex Sans" panose="020B0503050203000203" pitchFamily="34" charset="0"/>
              </a:rPr>
              <a:t>Tehdään sovellukseen toiminto, joka näyttää ainoastaan tärkeät muistiinpanot.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04F6FF8-3D21-8A3E-41C9-B717B5A30054}"/>
              </a:ext>
            </a:extLst>
          </p:cNvPr>
          <p:cNvSpPr txBox="1"/>
          <p:nvPr/>
        </p:nvSpPr>
        <p:spPr>
          <a:xfrm>
            <a:off x="813049" y="3429000"/>
            <a:ext cx="4833149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notes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setNotes] =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props.notes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newNote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setNewNote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 </a:t>
            </a:r>
            <a:r>
              <a:rPr lang="fi-FI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...'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 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[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showAll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setShowAll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] = 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useState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fi-FI" sz="12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true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  <a:p>
            <a:b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</a:b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notesToShow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showAll</a:t>
            </a:r>
            <a:endParaRPr lang="fi-FI" sz="12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? 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notes</a:t>
            </a:r>
            <a:endParaRPr lang="fi-FI" sz="12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: 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notes.filter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note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note.important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=== </a:t>
            </a:r>
            <a:r>
              <a:rPr lang="fi-FI" sz="12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true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addNote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event.preventDefault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noteObject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newNote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important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Math.random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&gt; </a:t>
            </a:r>
            <a:r>
              <a:rPr lang="fi-FI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0.5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id: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notes.length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+ </a:t>
            </a:r>
            <a:r>
              <a:rPr lang="fi-FI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D956E2-9275-B1AB-D8BB-340F3C8FB786}"/>
              </a:ext>
            </a:extLst>
          </p:cNvPr>
          <p:cNvSpPr txBox="1"/>
          <p:nvPr/>
        </p:nvSpPr>
        <p:spPr>
          <a:xfrm>
            <a:off x="5534488" y="2337891"/>
            <a:ext cx="6094520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&lt;h1&gt;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Notes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&lt;/h1&gt;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</a:t>
            </a:r>
            <a:r>
              <a:rPr lang="fi-FI" sz="12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&lt;div&gt;</a:t>
            </a:r>
            <a:endParaRPr lang="fi-FI" sz="12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fi-FI" sz="12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</a:t>
            </a:r>
            <a:r>
              <a:rPr lang="fi-FI" sz="12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button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onClick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fi-FI" sz="12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{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 </a:t>
            </a:r>
            <a:r>
              <a:rPr lang="fi-FI" sz="12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setShowAll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(!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showAll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  <a:r>
              <a:rPr lang="fi-FI" sz="12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  <a:r>
              <a:rPr lang="fi-FI" sz="12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&gt;</a:t>
            </a:r>
            <a:endParaRPr lang="fi-FI" sz="12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show </a:t>
            </a:r>
            <a:r>
              <a:rPr lang="fi-FI" sz="12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{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showAll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? </a:t>
            </a:r>
            <a:r>
              <a:rPr lang="fi-FI" sz="12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'</a:t>
            </a:r>
            <a:r>
              <a:rPr lang="fi-FI" sz="12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important</a:t>
            </a:r>
            <a:r>
              <a:rPr lang="fi-FI" sz="12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'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: </a:t>
            </a:r>
            <a:r>
              <a:rPr lang="fi-FI" sz="12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'</a:t>
            </a:r>
            <a:r>
              <a:rPr lang="fi-FI" sz="12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all</a:t>
            </a:r>
            <a:r>
              <a:rPr lang="fi-FI" sz="12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'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  <a:endParaRPr lang="fi-FI" sz="12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fi-FI" sz="12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&lt;/</a:t>
            </a:r>
            <a:r>
              <a:rPr lang="fi-FI" sz="1200" b="0" dirty="0" err="1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button</a:t>
            </a:r>
            <a:r>
              <a:rPr lang="fi-FI" sz="12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&gt;</a:t>
            </a:r>
            <a:endParaRPr lang="fi-FI" sz="12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</a:t>
            </a:r>
            <a:r>
              <a:rPr lang="fi-FI" sz="1200" b="0" dirty="0">
                <a:solidFill>
                  <a:srgbClr val="8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&lt;/div&gt;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      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i-FI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notesToShow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.map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i-FI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note.id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)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i-FI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i-FI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onSubmit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addNote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&lt;input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fi-FI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value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newNote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fi-FI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onChange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handleNoteChange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i-FI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type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i-FI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submit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save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i-FI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i-FI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form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</a:t>
            </a:r>
          </a:p>
        </p:txBody>
      </p:sp>
    </p:spTree>
    <p:extLst>
      <p:ext uri="{BB962C8B-B14F-4D97-AF65-F5344CB8AC3E}">
        <p14:creationId xmlns:p14="http://schemas.microsoft.com/office/powerpoint/2010/main" val="17335108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0996C-B88D-0EEB-F405-D06B5C516C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Tehtävät 2.6.-2.10.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5797F4-7213-A8B5-BE45-DA0163AFAC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Melkein loppuun tehty ratkaisu on tiedostossa </a:t>
            </a:r>
            <a:r>
              <a:rPr lang="fi-FI" dirty="0" err="1"/>
              <a:t>Selainohjelmointi_tehtavat</a:t>
            </a:r>
            <a:r>
              <a:rPr lang="fi-FI" dirty="0"/>
              <a:t>\osa2\Teht2-6\puhelinluettelo26\</a:t>
            </a:r>
            <a:r>
              <a:rPr lang="fi-FI" dirty="0" err="1"/>
              <a:t>src</a:t>
            </a:r>
            <a:r>
              <a:rPr lang="fi-FI" dirty="0"/>
              <a:t>\App-210_ratkaisu.jsx</a:t>
            </a:r>
          </a:p>
          <a:p>
            <a:pPr lvl="1"/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65343585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85B3E-9A26-0EF1-1269-6C71D9AA56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i-FI" dirty="0"/>
              <a:t>Palvelimella olevan datan hakeminen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00766A-B5E9-A1E8-2D2A-98D650D5D4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316312323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F7F97-38A7-20A6-8021-9996887F21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Palvelimella olevan datan hakeminen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190EF1-44BF-0F4E-EC35-CB6CBC617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98524" cy="4351338"/>
          </a:xfrm>
        </p:spPr>
        <p:txBody>
          <a:bodyPr>
            <a:normAutofit fontScale="92500" lnSpcReduction="20000"/>
          </a:bodyPr>
          <a:lstStyle/>
          <a:p>
            <a:r>
              <a:rPr lang="fi-FI" dirty="0"/>
              <a:t>Käytetään palvelimena toistaiseksi sovelluskehitykseen tarkoitettua JSON Serveriä.</a:t>
            </a:r>
          </a:p>
          <a:p>
            <a:r>
              <a:rPr lang="fi-FI" dirty="0"/>
              <a:t>Asenna JSON </a:t>
            </a:r>
            <a:r>
              <a:rPr lang="fi-FI" dirty="0" err="1"/>
              <a:t>server</a:t>
            </a:r>
            <a:endParaRPr lang="fi-FI" dirty="0"/>
          </a:p>
          <a:p>
            <a:pPr lvl="1"/>
            <a:r>
              <a:rPr lang="fi-FI" b="0" i="0" dirty="0" err="1">
                <a:solidFill>
                  <a:srgbClr val="33332D"/>
                </a:solidFill>
                <a:effectLst/>
                <a:latin typeface="Courier" pitchFamily="2" charset="0"/>
              </a:rPr>
              <a:t>npm</a:t>
            </a:r>
            <a:r>
              <a:rPr lang="fi-FI" b="0" i="0" dirty="0">
                <a:solidFill>
                  <a:srgbClr val="33332D"/>
                </a:solidFill>
                <a:effectLst/>
                <a:latin typeface="Courier" pitchFamily="2" charset="0"/>
              </a:rPr>
              <a:t> </a:t>
            </a:r>
            <a:r>
              <a:rPr lang="fi-FI" b="0" i="0" dirty="0" err="1">
                <a:solidFill>
                  <a:srgbClr val="33332D"/>
                </a:solidFill>
                <a:effectLst/>
                <a:latin typeface="Courier" pitchFamily="2" charset="0"/>
              </a:rPr>
              <a:t>install</a:t>
            </a:r>
            <a:r>
              <a:rPr lang="fi-FI" b="0" i="0" dirty="0">
                <a:solidFill>
                  <a:srgbClr val="33332D"/>
                </a:solidFill>
                <a:effectLst/>
                <a:latin typeface="Courier" pitchFamily="2" charset="0"/>
              </a:rPr>
              <a:t> </a:t>
            </a:r>
            <a:r>
              <a:rPr lang="fi-FI" b="0" i="0" dirty="0" err="1">
                <a:solidFill>
                  <a:srgbClr val="33332D"/>
                </a:solidFill>
                <a:effectLst/>
                <a:latin typeface="Courier" pitchFamily="2" charset="0"/>
              </a:rPr>
              <a:t>json-server</a:t>
            </a:r>
            <a:endParaRPr lang="fi-FI" dirty="0"/>
          </a:p>
          <a:p>
            <a:r>
              <a:rPr lang="fi-FI" dirty="0"/>
              <a:t>Tee projektin juurihakemistoon tiedosto </a:t>
            </a:r>
            <a:r>
              <a:rPr lang="fi-FI" dirty="0" err="1"/>
              <a:t>db.json</a:t>
            </a:r>
            <a:endParaRPr lang="fi-FI" dirty="0"/>
          </a:p>
          <a:p>
            <a:r>
              <a:rPr lang="fi-FI" dirty="0"/>
              <a:t>Käynnistä JSON Server</a:t>
            </a:r>
          </a:p>
          <a:p>
            <a:pPr lvl="1"/>
            <a:r>
              <a:rPr lang="fi-FI" dirty="0" err="1"/>
              <a:t>npx</a:t>
            </a:r>
            <a:r>
              <a:rPr lang="fi-FI" dirty="0"/>
              <a:t> </a:t>
            </a:r>
            <a:r>
              <a:rPr lang="fi-FI" dirty="0" err="1"/>
              <a:t>json-server</a:t>
            </a:r>
            <a:r>
              <a:rPr lang="fi-FI" dirty="0"/>
              <a:t> --</a:t>
            </a:r>
            <a:r>
              <a:rPr lang="fi-FI" dirty="0" err="1"/>
              <a:t>port</a:t>
            </a:r>
            <a:r>
              <a:rPr lang="fi-FI" dirty="0"/>
              <a:t>=3001 --</a:t>
            </a:r>
            <a:r>
              <a:rPr lang="fi-FI" dirty="0" err="1"/>
              <a:t>watch</a:t>
            </a:r>
            <a:r>
              <a:rPr lang="fi-FI" dirty="0"/>
              <a:t> </a:t>
            </a:r>
            <a:r>
              <a:rPr lang="fi-FI" dirty="0" err="1"/>
              <a:t>db.json</a:t>
            </a:r>
            <a:endParaRPr lang="fi-FI" dirty="0"/>
          </a:p>
          <a:p>
            <a:r>
              <a:rPr lang="fi-FI" dirty="0"/>
              <a:t>Tarkista selaimessa:</a:t>
            </a:r>
          </a:p>
          <a:p>
            <a:pPr lvl="1"/>
            <a:r>
              <a:rPr lang="fi-FI" dirty="0">
                <a:hlinkClick r:id="rId2"/>
              </a:rPr>
              <a:t>http://localhost:3001/notes</a:t>
            </a:r>
            <a:endParaRPr lang="fi-FI" dirty="0"/>
          </a:p>
          <a:p>
            <a:endParaRPr lang="fi-FI" dirty="0"/>
          </a:p>
        </p:txBody>
      </p:sp>
      <p:sp>
        <p:nvSpPr>
          <p:cNvPr id="12" name="Tekstiruutu 11">
            <a:extLst>
              <a:ext uri="{FF2B5EF4-FFF2-40B4-BE49-F238E27FC236}">
                <a16:creationId xmlns:a16="http://schemas.microsoft.com/office/drawing/2014/main" id="{0A504E6F-A26C-6846-2766-250D093EF5D6}"/>
              </a:ext>
            </a:extLst>
          </p:cNvPr>
          <p:cNvSpPr txBox="1"/>
          <p:nvPr/>
        </p:nvSpPr>
        <p:spPr>
          <a:xfrm>
            <a:off x="6536724" y="2200801"/>
            <a:ext cx="5387546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200" dirty="0"/>
              <a:t>{</a:t>
            </a:r>
          </a:p>
          <a:p>
            <a:r>
              <a:rPr lang="fi-FI" sz="1200" dirty="0"/>
              <a:t>  "</a:t>
            </a:r>
            <a:r>
              <a:rPr lang="fi-FI" sz="1200" dirty="0" err="1"/>
              <a:t>notes</a:t>
            </a:r>
            <a:r>
              <a:rPr lang="fi-FI" sz="1200" dirty="0"/>
              <a:t>": [</a:t>
            </a:r>
          </a:p>
          <a:p>
            <a:r>
              <a:rPr lang="fi-FI" sz="1200" dirty="0"/>
              <a:t>    {</a:t>
            </a:r>
          </a:p>
          <a:p>
            <a:r>
              <a:rPr lang="fi-FI" sz="1200" dirty="0"/>
              <a:t>      "id": 1,</a:t>
            </a:r>
          </a:p>
          <a:p>
            <a:r>
              <a:rPr lang="fi-FI" sz="1200" dirty="0"/>
              <a:t>      "</a:t>
            </a:r>
            <a:r>
              <a:rPr lang="fi-FI" sz="1200" dirty="0" err="1"/>
              <a:t>content</a:t>
            </a:r>
            <a:r>
              <a:rPr lang="fi-FI" sz="1200" dirty="0"/>
              <a:t>": "HTML is </a:t>
            </a:r>
            <a:r>
              <a:rPr lang="fi-FI" sz="1200" dirty="0" err="1"/>
              <a:t>easy</a:t>
            </a:r>
            <a:r>
              <a:rPr lang="fi-FI" sz="1200" dirty="0"/>
              <a:t>",</a:t>
            </a:r>
          </a:p>
          <a:p>
            <a:r>
              <a:rPr lang="fi-FI" sz="1200" dirty="0"/>
              <a:t>      "</a:t>
            </a:r>
            <a:r>
              <a:rPr lang="fi-FI" sz="1200" dirty="0" err="1"/>
              <a:t>important</a:t>
            </a:r>
            <a:r>
              <a:rPr lang="fi-FI" sz="1200" dirty="0"/>
              <a:t>": </a:t>
            </a:r>
            <a:r>
              <a:rPr lang="fi-FI" sz="1200" dirty="0" err="1"/>
              <a:t>true</a:t>
            </a:r>
            <a:endParaRPr lang="fi-FI" sz="1200" dirty="0"/>
          </a:p>
          <a:p>
            <a:r>
              <a:rPr lang="fi-FI" sz="1200" dirty="0"/>
              <a:t>    },</a:t>
            </a:r>
          </a:p>
          <a:p>
            <a:r>
              <a:rPr lang="fi-FI" sz="1200" dirty="0"/>
              <a:t>    {</a:t>
            </a:r>
          </a:p>
          <a:p>
            <a:r>
              <a:rPr lang="fi-FI" sz="1200" dirty="0"/>
              <a:t>      "id": 2,</a:t>
            </a:r>
          </a:p>
          <a:p>
            <a:r>
              <a:rPr lang="fi-FI" sz="1200" dirty="0"/>
              <a:t>      "</a:t>
            </a:r>
            <a:r>
              <a:rPr lang="fi-FI" sz="1200" dirty="0" err="1"/>
              <a:t>content</a:t>
            </a:r>
            <a:r>
              <a:rPr lang="fi-FI" sz="1200" dirty="0"/>
              <a:t>": "</a:t>
            </a:r>
            <a:r>
              <a:rPr lang="fi-FI" sz="1200" dirty="0" err="1"/>
              <a:t>Browser</a:t>
            </a:r>
            <a:r>
              <a:rPr lang="fi-FI" sz="1200" dirty="0"/>
              <a:t> </a:t>
            </a:r>
            <a:r>
              <a:rPr lang="fi-FI" sz="1200" dirty="0" err="1"/>
              <a:t>can</a:t>
            </a:r>
            <a:r>
              <a:rPr lang="fi-FI" sz="1200" dirty="0"/>
              <a:t> </a:t>
            </a:r>
            <a:r>
              <a:rPr lang="fi-FI" sz="1200" dirty="0" err="1"/>
              <a:t>execute</a:t>
            </a:r>
            <a:r>
              <a:rPr lang="fi-FI" sz="1200" dirty="0"/>
              <a:t> </a:t>
            </a:r>
            <a:r>
              <a:rPr lang="fi-FI" sz="1200" dirty="0" err="1"/>
              <a:t>only</a:t>
            </a:r>
            <a:r>
              <a:rPr lang="fi-FI" sz="1200" dirty="0"/>
              <a:t> JavaScript",</a:t>
            </a:r>
          </a:p>
          <a:p>
            <a:r>
              <a:rPr lang="fi-FI" sz="1200" dirty="0"/>
              <a:t>      "</a:t>
            </a:r>
            <a:r>
              <a:rPr lang="fi-FI" sz="1200" dirty="0" err="1"/>
              <a:t>important</a:t>
            </a:r>
            <a:r>
              <a:rPr lang="fi-FI" sz="1200" dirty="0"/>
              <a:t>": </a:t>
            </a:r>
            <a:r>
              <a:rPr lang="fi-FI" sz="1200" dirty="0" err="1"/>
              <a:t>false</a:t>
            </a:r>
            <a:endParaRPr lang="fi-FI" sz="1200" dirty="0"/>
          </a:p>
          <a:p>
            <a:r>
              <a:rPr lang="fi-FI" sz="1200" dirty="0"/>
              <a:t>    },</a:t>
            </a:r>
          </a:p>
          <a:p>
            <a:r>
              <a:rPr lang="fi-FI" sz="1200" dirty="0"/>
              <a:t>    {</a:t>
            </a:r>
          </a:p>
          <a:p>
            <a:r>
              <a:rPr lang="fi-FI" sz="1200" dirty="0"/>
              <a:t>      "id": 3,</a:t>
            </a:r>
          </a:p>
          <a:p>
            <a:r>
              <a:rPr lang="fi-FI" sz="1200" dirty="0"/>
              <a:t>      "</a:t>
            </a:r>
            <a:r>
              <a:rPr lang="fi-FI" sz="1200" dirty="0" err="1"/>
              <a:t>content</a:t>
            </a:r>
            <a:r>
              <a:rPr lang="fi-FI" sz="1200" dirty="0"/>
              <a:t>": "GET and POST </a:t>
            </a:r>
            <a:r>
              <a:rPr lang="fi-FI" sz="1200" dirty="0" err="1"/>
              <a:t>are</a:t>
            </a:r>
            <a:r>
              <a:rPr lang="fi-FI" sz="1200" dirty="0"/>
              <a:t> </a:t>
            </a:r>
            <a:r>
              <a:rPr lang="fi-FI" sz="1200" dirty="0" err="1"/>
              <a:t>the</a:t>
            </a:r>
            <a:r>
              <a:rPr lang="fi-FI" sz="1200" dirty="0"/>
              <a:t> </a:t>
            </a:r>
            <a:r>
              <a:rPr lang="fi-FI" sz="1200" dirty="0" err="1"/>
              <a:t>most</a:t>
            </a:r>
            <a:r>
              <a:rPr lang="fi-FI" sz="1200" dirty="0"/>
              <a:t> </a:t>
            </a:r>
            <a:r>
              <a:rPr lang="fi-FI" sz="1200" dirty="0" err="1"/>
              <a:t>important</a:t>
            </a:r>
            <a:r>
              <a:rPr lang="fi-FI" sz="1200" dirty="0"/>
              <a:t> </a:t>
            </a:r>
            <a:r>
              <a:rPr lang="fi-FI" sz="1200" dirty="0" err="1"/>
              <a:t>methods</a:t>
            </a:r>
            <a:r>
              <a:rPr lang="fi-FI" sz="1200" dirty="0"/>
              <a:t> of HTTP </a:t>
            </a:r>
            <a:r>
              <a:rPr lang="fi-FI" sz="1200" dirty="0" err="1"/>
              <a:t>protocol</a:t>
            </a:r>
            <a:r>
              <a:rPr lang="fi-FI" sz="1200" dirty="0"/>
              <a:t>",</a:t>
            </a:r>
          </a:p>
          <a:p>
            <a:r>
              <a:rPr lang="fi-FI" sz="1200" dirty="0"/>
              <a:t>      "</a:t>
            </a:r>
            <a:r>
              <a:rPr lang="fi-FI" sz="1200" dirty="0" err="1"/>
              <a:t>important</a:t>
            </a:r>
            <a:r>
              <a:rPr lang="fi-FI" sz="1200" dirty="0"/>
              <a:t>": </a:t>
            </a:r>
            <a:r>
              <a:rPr lang="fi-FI" sz="1200" dirty="0" err="1"/>
              <a:t>true</a:t>
            </a:r>
            <a:endParaRPr lang="fi-FI" sz="1200" dirty="0"/>
          </a:p>
          <a:p>
            <a:r>
              <a:rPr lang="fi-FI" sz="1200" dirty="0"/>
              <a:t>    }</a:t>
            </a:r>
          </a:p>
          <a:p>
            <a:r>
              <a:rPr lang="fi-FI" sz="1200" dirty="0"/>
              <a:t>  ]</a:t>
            </a:r>
          </a:p>
          <a:p>
            <a:r>
              <a:rPr lang="fi-FI" sz="12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66429823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C203F-692D-CAE5-CC07-7946B69AB8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Materiaalin esimerkki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DA8AC9-77FC-1CDA-BB40-4AA278972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Jatketaan versiosta 2-3</a:t>
            </a:r>
          </a:p>
          <a:p>
            <a:r>
              <a:rPr lang="fi-FI" dirty="0">
                <a:hlinkClick r:id="rId2"/>
              </a:rPr>
              <a:t>https://github.com/fullstack-hy2020/part2-notes-frontend/tree/part2-3</a:t>
            </a:r>
            <a:r>
              <a:rPr lang="fi-FI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8529146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136A88A5-9CF5-4BC3-328A-4180E0B73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Lisäasennuksia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E4F8BE30-92F6-8ABB-19D4-AD5E123B89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21195" cy="4512716"/>
          </a:xfrm>
        </p:spPr>
        <p:txBody>
          <a:bodyPr>
            <a:normAutofit fontScale="92500" lnSpcReduction="20000"/>
          </a:bodyPr>
          <a:lstStyle/>
          <a:p>
            <a:r>
              <a:rPr lang="fi-FI" dirty="0"/>
              <a:t>Avaa toinen konsoli ja asenna </a:t>
            </a:r>
            <a:r>
              <a:rPr lang="fi-FI" dirty="0" err="1"/>
              <a:t>axios</a:t>
            </a:r>
            <a:r>
              <a:rPr lang="fi-FI" dirty="0"/>
              <a:t> HTTP-pyyntöjä varten</a:t>
            </a:r>
          </a:p>
          <a:p>
            <a:pPr lvl="1"/>
            <a:r>
              <a:rPr lang="fi-FI" dirty="0" err="1">
                <a:effectLst/>
              </a:rPr>
              <a:t>npm</a:t>
            </a:r>
            <a:r>
              <a:rPr lang="fi-FI" dirty="0"/>
              <a:t> </a:t>
            </a:r>
            <a:r>
              <a:rPr lang="fi-FI" dirty="0" err="1">
                <a:effectLst/>
              </a:rPr>
              <a:t>install</a:t>
            </a:r>
            <a:r>
              <a:rPr lang="fi-FI" dirty="0"/>
              <a:t> </a:t>
            </a:r>
            <a:r>
              <a:rPr lang="fi-FI" dirty="0" err="1"/>
              <a:t>axios</a:t>
            </a:r>
            <a:endParaRPr lang="fi-FI" dirty="0"/>
          </a:p>
          <a:p>
            <a:r>
              <a:rPr lang="fi-FI" dirty="0"/>
              <a:t>Asenna JSON Server projektin sovelluskehityksen aikaiseksi riippuvuudeksi komennolla</a:t>
            </a:r>
          </a:p>
          <a:p>
            <a:pPr lvl="1"/>
            <a:r>
              <a:rPr lang="fi-FI" dirty="0" err="1">
                <a:effectLst/>
              </a:rPr>
              <a:t>npm</a:t>
            </a:r>
            <a:r>
              <a:rPr lang="fi-FI" dirty="0"/>
              <a:t> </a:t>
            </a:r>
            <a:r>
              <a:rPr lang="fi-FI" dirty="0" err="1">
                <a:effectLst/>
              </a:rPr>
              <a:t>install</a:t>
            </a:r>
            <a:r>
              <a:rPr lang="fi-FI" dirty="0"/>
              <a:t> </a:t>
            </a:r>
            <a:r>
              <a:rPr lang="fi-FI" dirty="0" err="1"/>
              <a:t>json-server</a:t>
            </a:r>
            <a:r>
              <a:rPr lang="fi-FI" dirty="0"/>
              <a:t> --</a:t>
            </a:r>
            <a:r>
              <a:rPr lang="fi-FI" dirty="0" err="1"/>
              <a:t>save-dev</a:t>
            </a:r>
            <a:endParaRPr lang="fi-FI" dirty="0"/>
          </a:p>
          <a:p>
            <a:r>
              <a:rPr lang="fi-FI" dirty="0"/>
              <a:t>Tee </a:t>
            </a:r>
            <a:r>
              <a:rPr lang="fi-FI" dirty="0" err="1"/>
              <a:t>package.json</a:t>
            </a:r>
            <a:r>
              <a:rPr lang="fi-FI" dirty="0"/>
              <a:t> lisäys:</a:t>
            </a:r>
          </a:p>
          <a:p>
            <a:pPr lvl="1"/>
            <a:r>
              <a:rPr lang="fi-FI" dirty="0"/>
              <a:t>"</a:t>
            </a:r>
            <a:r>
              <a:rPr lang="fi-FI" dirty="0" err="1"/>
              <a:t>server</a:t>
            </a:r>
            <a:r>
              <a:rPr lang="fi-FI" dirty="0"/>
              <a:t>": "</a:t>
            </a:r>
            <a:r>
              <a:rPr lang="fi-FI" dirty="0" err="1"/>
              <a:t>json-server</a:t>
            </a:r>
            <a:r>
              <a:rPr lang="fi-FI" dirty="0"/>
              <a:t> -p3001 --</a:t>
            </a:r>
            <a:r>
              <a:rPr lang="fi-FI" dirty="0" err="1"/>
              <a:t>watch</a:t>
            </a:r>
            <a:r>
              <a:rPr lang="fi-FI" dirty="0"/>
              <a:t> </a:t>
            </a:r>
            <a:r>
              <a:rPr lang="fi-FI" dirty="0" err="1"/>
              <a:t>db.json</a:t>
            </a:r>
            <a:r>
              <a:rPr lang="fi-FI" dirty="0"/>
              <a:t>”</a:t>
            </a:r>
          </a:p>
          <a:p>
            <a:pPr lvl="1"/>
            <a:r>
              <a:rPr lang="fi-FI" dirty="0"/>
              <a:t>Muista pilkku edelliselle riville</a:t>
            </a:r>
          </a:p>
          <a:p>
            <a:r>
              <a:rPr lang="fi-FI" dirty="0"/>
              <a:t>Serverin voi nyt käynnistää näin:</a:t>
            </a:r>
          </a:p>
          <a:p>
            <a:pPr lvl="1"/>
            <a:r>
              <a:rPr lang="fi-FI" dirty="0" err="1"/>
              <a:t>npm</a:t>
            </a:r>
            <a:r>
              <a:rPr lang="fi-FI" dirty="0"/>
              <a:t> </a:t>
            </a:r>
            <a:r>
              <a:rPr lang="fi-FI" dirty="0" err="1"/>
              <a:t>run</a:t>
            </a:r>
            <a:r>
              <a:rPr lang="fi-FI" dirty="0"/>
              <a:t> </a:t>
            </a:r>
            <a:r>
              <a:rPr lang="fi-FI" dirty="0" err="1"/>
              <a:t>server</a:t>
            </a:r>
            <a:endParaRPr lang="fi-FI" dirty="0"/>
          </a:p>
        </p:txBody>
      </p:sp>
      <p:sp>
        <p:nvSpPr>
          <p:cNvPr id="7" name="Tekstiruutu 6">
            <a:extLst>
              <a:ext uri="{FF2B5EF4-FFF2-40B4-BE49-F238E27FC236}">
                <a16:creationId xmlns:a16="http://schemas.microsoft.com/office/drawing/2014/main" id="{CE056DE4-76B6-11C0-96C2-469F98193E2E}"/>
              </a:ext>
            </a:extLst>
          </p:cNvPr>
          <p:cNvSpPr txBox="1"/>
          <p:nvPr/>
        </p:nvSpPr>
        <p:spPr>
          <a:xfrm>
            <a:off x="6093942" y="2064254"/>
            <a:ext cx="609805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dirty="0"/>
              <a:t>{</a:t>
            </a:r>
          </a:p>
          <a:p>
            <a:r>
              <a:rPr lang="fi-FI" dirty="0"/>
              <a:t>  "</a:t>
            </a:r>
            <a:r>
              <a:rPr lang="fi-FI" dirty="0" err="1"/>
              <a:t>name</a:t>
            </a:r>
            <a:r>
              <a:rPr lang="fi-FI" dirty="0"/>
              <a:t>": "part1",</a:t>
            </a:r>
          </a:p>
          <a:p>
            <a:r>
              <a:rPr lang="fi-FI" dirty="0"/>
              <a:t>  "</a:t>
            </a:r>
            <a:r>
              <a:rPr lang="fi-FI" dirty="0" err="1"/>
              <a:t>private</a:t>
            </a:r>
            <a:r>
              <a:rPr lang="fi-FI" dirty="0"/>
              <a:t>": </a:t>
            </a:r>
            <a:r>
              <a:rPr lang="fi-FI" dirty="0" err="1"/>
              <a:t>true</a:t>
            </a:r>
            <a:r>
              <a:rPr lang="fi-FI" dirty="0"/>
              <a:t>,</a:t>
            </a:r>
          </a:p>
          <a:p>
            <a:r>
              <a:rPr lang="fi-FI" dirty="0"/>
              <a:t>  "version": "0.0.0",</a:t>
            </a:r>
          </a:p>
          <a:p>
            <a:r>
              <a:rPr lang="fi-FI" dirty="0"/>
              <a:t>  "</a:t>
            </a:r>
            <a:r>
              <a:rPr lang="fi-FI" dirty="0" err="1"/>
              <a:t>type</a:t>
            </a:r>
            <a:r>
              <a:rPr lang="fi-FI" dirty="0"/>
              <a:t>": "</a:t>
            </a:r>
            <a:r>
              <a:rPr lang="fi-FI" dirty="0" err="1"/>
              <a:t>module</a:t>
            </a:r>
            <a:r>
              <a:rPr lang="fi-FI" dirty="0"/>
              <a:t>",</a:t>
            </a:r>
          </a:p>
          <a:p>
            <a:r>
              <a:rPr lang="fi-FI" dirty="0"/>
              <a:t>  </a:t>
            </a:r>
            <a:r>
              <a:rPr lang="fi-FI" dirty="0">
                <a:highlight>
                  <a:srgbClr val="00FFFF"/>
                </a:highlight>
              </a:rPr>
              <a:t>"</a:t>
            </a:r>
            <a:r>
              <a:rPr lang="fi-FI" dirty="0" err="1">
                <a:highlight>
                  <a:srgbClr val="00FFFF"/>
                </a:highlight>
              </a:rPr>
              <a:t>scripts</a:t>
            </a:r>
            <a:r>
              <a:rPr lang="fi-FI" dirty="0">
                <a:highlight>
                  <a:srgbClr val="00FFFF"/>
                </a:highlight>
              </a:rPr>
              <a:t>": </a:t>
            </a:r>
            <a:r>
              <a:rPr lang="fi-FI" dirty="0"/>
              <a:t>{</a:t>
            </a:r>
          </a:p>
          <a:p>
            <a:r>
              <a:rPr lang="fi-FI" dirty="0"/>
              <a:t>    "</a:t>
            </a:r>
            <a:r>
              <a:rPr lang="fi-FI" dirty="0" err="1"/>
              <a:t>dev</a:t>
            </a:r>
            <a:r>
              <a:rPr lang="fi-FI" dirty="0"/>
              <a:t>": "</a:t>
            </a:r>
            <a:r>
              <a:rPr lang="fi-FI" dirty="0" err="1"/>
              <a:t>vite</a:t>
            </a:r>
            <a:r>
              <a:rPr lang="fi-FI" dirty="0"/>
              <a:t>",</a:t>
            </a:r>
          </a:p>
          <a:p>
            <a:r>
              <a:rPr lang="fi-FI" dirty="0"/>
              <a:t>    "</a:t>
            </a:r>
            <a:r>
              <a:rPr lang="fi-FI" dirty="0" err="1"/>
              <a:t>build</a:t>
            </a:r>
            <a:r>
              <a:rPr lang="fi-FI" dirty="0"/>
              <a:t>": "</a:t>
            </a:r>
            <a:r>
              <a:rPr lang="fi-FI" dirty="0" err="1"/>
              <a:t>vite</a:t>
            </a:r>
            <a:r>
              <a:rPr lang="fi-FI" dirty="0"/>
              <a:t> </a:t>
            </a:r>
            <a:r>
              <a:rPr lang="fi-FI" dirty="0" err="1"/>
              <a:t>build</a:t>
            </a:r>
            <a:r>
              <a:rPr lang="fi-FI" dirty="0"/>
              <a:t>",</a:t>
            </a:r>
          </a:p>
          <a:p>
            <a:r>
              <a:rPr lang="fi-FI" dirty="0"/>
              <a:t>    "</a:t>
            </a:r>
            <a:r>
              <a:rPr lang="fi-FI" dirty="0" err="1"/>
              <a:t>lint</a:t>
            </a:r>
            <a:r>
              <a:rPr lang="fi-FI" dirty="0"/>
              <a:t>": "</a:t>
            </a:r>
            <a:r>
              <a:rPr lang="fi-FI" dirty="0" err="1"/>
              <a:t>eslint</a:t>
            </a:r>
            <a:r>
              <a:rPr lang="fi-FI" dirty="0"/>
              <a:t> . --</a:t>
            </a:r>
            <a:r>
              <a:rPr lang="fi-FI" dirty="0" err="1"/>
              <a:t>ext</a:t>
            </a:r>
            <a:r>
              <a:rPr lang="fi-FI" dirty="0"/>
              <a:t> </a:t>
            </a:r>
            <a:r>
              <a:rPr lang="fi-FI" dirty="0" err="1"/>
              <a:t>js,jsx</a:t>
            </a:r>
            <a:r>
              <a:rPr lang="fi-FI" dirty="0"/>
              <a:t> --</a:t>
            </a:r>
            <a:r>
              <a:rPr lang="fi-FI" dirty="0" err="1"/>
              <a:t>report-unused-disable-directives</a:t>
            </a:r>
            <a:r>
              <a:rPr lang="fi-FI" dirty="0"/>
              <a:t> --</a:t>
            </a:r>
            <a:r>
              <a:rPr lang="fi-FI" dirty="0" err="1"/>
              <a:t>max-warnings</a:t>
            </a:r>
            <a:r>
              <a:rPr lang="fi-FI" dirty="0"/>
              <a:t> 0",</a:t>
            </a:r>
          </a:p>
          <a:p>
            <a:r>
              <a:rPr lang="fi-FI" dirty="0"/>
              <a:t>    "</a:t>
            </a:r>
            <a:r>
              <a:rPr lang="fi-FI" dirty="0" err="1"/>
              <a:t>preview</a:t>
            </a:r>
            <a:r>
              <a:rPr lang="fi-FI" dirty="0"/>
              <a:t>": "</a:t>
            </a:r>
            <a:r>
              <a:rPr lang="fi-FI" dirty="0" err="1"/>
              <a:t>vite</a:t>
            </a:r>
            <a:r>
              <a:rPr lang="fi-FI" dirty="0"/>
              <a:t> </a:t>
            </a:r>
            <a:r>
              <a:rPr lang="fi-FI" dirty="0" err="1"/>
              <a:t>preview</a:t>
            </a:r>
            <a:r>
              <a:rPr lang="fi-FI" dirty="0"/>
              <a:t>"</a:t>
            </a:r>
            <a:r>
              <a:rPr lang="fi-FI" dirty="0">
                <a:highlight>
                  <a:srgbClr val="FFFF00"/>
                </a:highlight>
              </a:rPr>
              <a:t>,</a:t>
            </a:r>
          </a:p>
          <a:p>
            <a:r>
              <a:rPr lang="fi-FI" dirty="0">
                <a:highlight>
                  <a:srgbClr val="FFFF00"/>
                </a:highlight>
              </a:rPr>
              <a:t>    "</a:t>
            </a:r>
            <a:r>
              <a:rPr lang="fi-FI" dirty="0" err="1">
                <a:highlight>
                  <a:srgbClr val="FFFF00"/>
                </a:highlight>
              </a:rPr>
              <a:t>server</a:t>
            </a:r>
            <a:r>
              <a:rPr lang="fi-FI" dirty="0">
                <a:highlight>
                  <a:srgbClr val="FFFF00"/>
                </a:highlight>
              </a:rPr>
              <a:t>": "</a:t>
            </a:r>
            <a:r>
              <a:rPr lang="fi-FI" dirty="0" err="1">
                <a:highlight>
                  <a:srgbClr val="FFFF00"/>
                </a:highlight>
              </a:rPr>
              <a:t>json-server</a:t>
            </a:r>
            <a:r>
              <a:rPr lang="fi-FI" dirty="0">
                <a:highlight>
                  <a:srgbClr val="FFFF00"/>
                </a:highlight>
              </a:rPr>
              <a:t> -p3001 --</a:t>
            </a:r>
            <a:r>
              <a:rPr lang="fi-FI" dirty="0" err="1">
                <a:highlight>
                  <a:srgbClr val="FFFF00"/>
                </a:highlight>
              </a:rPr>
              <a:t>watch</a:t>
            </a:r>
            <a:r>
              <a:rPr lang="fi-FI" dirty="0">
                <a:highlight>
                  <a:srgbClr val="FFFF00"/>
                </a:highlight>
              </a:rPr>
              <a:t> </a:t>
            </a:r>
            <a:r>
              <a:rPr lang="fi-FI" dirty="0" err="1">
                <a:highlight>
                  <a:srgbClr val="FFFF00"/>
                </a:highlight>
              </a:rPr>
              <a:t>db.json</a:t>
            </a:r>
            <a:r>
              <a:rPr lang="fi-FI" dirty="0">
                <a:highlight>
                  <a:srgbClr val="FFFF00"/>
                </a:highlight>
              </a:rPr>
              <a:t>"</a:t>
            </a:r>
          </a:p>
          <a:p>
            <a:r>
              <a:rPr lang="fi-FI" dirty="0"/>
              <a:t>  },</a:t>
            </a:r>
          </a:p>
        </p:txBody>
      </p:sp>
    </p:spTree>
    <p:extLst>
      <p:ext uri="{BB962C8B-B14F-4D97-AF65-F5344CB8AC3E}">
        <p14:creationId xmlns:p14="http://schemas.microsoft.com/office/powerpoint/2010/main" val="38300019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28D7B63D-748E-1091-FE49-BB1DC182E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Axios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FD95BD47-7CB7-2FF6-4F4B-14A268144A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8417011" cy="2301532"/>
          </a:xfrm>
        </p:spPr>
        <p:txBody>
          <a:bodyPr>
            <a:normAutofit fontScale="92500"/>
          </a:bodyPr>
          <a:lstStyle/>
          <a:p>
            <a:r>
              <a:rPr lang="fi-FI" dirty="0"/>
              <a:t>Kokeillaan hakea tietoa palvelimelta </a:t>
            </a:r>
            <a:r>
              <a:rPr lang="fi-FI" dirty="0" err="1"/>
              <a:t>axios:n</a:t>
            </a:r>
            <a:r>
              <a:rPr lang="fi-FI" dirty="0"/>
              <a:t> avulla</a:t>
            </a:r>
          </a:p>
          <a:p>
            <a:r>
              <a:rPr lang="fi-FI" dirty="0"/>
              <a:t>Käynnistä </a:t>
            </a:r>
            <a:r>
              <a:rPr lang="fi-FI" dirty="0" err="1"/>
              <a:t>react</a:t>
            </a:r>
            <a:r>
              <a:rPr lang="fi-FI" dirty="0"/>
              <a:t>-sovellus (eri konsolissa kuin JSON </a:t>
            </a:r>
            <a:r>
              <a:rPr lang="fi-FI" dirty="0" err="1"/>
              <a:t>server</a:t>
            </a:r>
            <a:r>
              <a:rPr lang="fi-FI" dirty="0"/>
              <a:t>):</a:t>
            </a:r>
          </a:p>
          <a:p>
            <a:pPr lvl="1"/>
            <a:r>
              <a:rPr lang="fi-FI" dirty="0" err="1">
                <a:effectLst/>
              </a:rPr>
              <a:t>npm</a:t>
            </a:r>
            <a:r>
              <a:rPr lang="fi-FI" dirty="0"/>
              <a:t> </a:t>
            </a:r>
            <a:r>
              <a:rPr lang="fi-FI" dirty="0" err="1"/>
              <a:t>run</a:t>
            </a:r>
            <a:r>
              <a:rPr lang="fi-FI" dirty="0"/>
              <a:t> </a:t>
            </a:r>
            <a:r>
              <a:rPr lang="fi-FI" dirty="0" err="1"/>
              <a:t>dev</a:t>
            </a:r>
            <a:endParaRPr lang="fi-FI" dirty="0"/>
          </a:p>
          <a:p>
            <a:r>
              <a:rPr lang="fi-FI" dirty="0"/>
              <a:t>Lisää seuraava tiedoston </a:t>
            </a:r>
            <a:r>
              <a:rPr lang="fi-FI" dirty="0" err="1"/>
              <a:t>main.jsx</a:t>
            </a:r>
            <a:r>
              <a:rPr lang="fi-FI" dirty="0"/>
              <a:t> loppuun ja katso localhost:5173 konsoli</a:t>
            </a:r>
          </a:p>
          <a:p>
            <a:endParaRPr lang="fi-FI" dirty="0"/>
          </a:p>
        </p:txBody>
      </p:sp>
      <p:sp>
        <p:nvSpPr>
          <p:cNvPr id="7" name="Tekstiruutu 6">
            <a:extLst>
              <a:ext uri="{FF2B5EF4-FFF2-40B4-BE49-F238E27FC236}">
                <a16:creationId xmlns:a16="http://schemas.microsoft.com/office/drawing/2014/main" id="{B852CB21-8D0C-429E-7069-4290D27A2C11}"/>
              </a:ext>
            </a:extLst>
          </p:cNvPr>
          <p:cNvSpPr txBox="1"/>
          <p:nvPr/>
        </p:nvSpPr>
        <p:spPr>
          <a:xfrm>
            <a:off x="985451" y="4286808"/>
            <a:ext cx="6098058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dirty="0"/>
              <a:t>import </a:t>
            </a:r>
            <a:r>
              <a:rPr lang="fi-FI" dirty="0" err="1"/>
              <a:t>axios</a:t>
            </a:r>
            <a:r>
              <a:rPr lang="fi-FI" dirty="0"/>
              <a:t> </a:t>
            </a:r>
            <a:r>
              <a:rPr lang="fi-FI" dirty="0" err="1"/>
              <a:t>from</a:t>
            </a:r>
            <a:r>
              <a:rPr lang="fi-FI" dirty="0"/>
              <a:t> '</a:t>
            </a:r>
            <a:r>
              <a:rPr lang="fi-FI" dirty="0" err="1"/>
              <a:t>axios</a:t>
            </a:r>
            <a:r>
              <a:rPr lang="fi-FI" dirty="0"/>
              <a:t>'</a:t>
            </a:r>
          </a:p>
          <a:p>
            <a:endParaRPr lang="fi-FI" dirty="0"/>
          </a:p>
          <a:p>
            <a:r>
              <a:rPr lang="fi-FI" dirty="0" err="1"/>
              <a:t>const</a:t>
            </a:r>
            <a:r>
              <a:rPr lang="fi-FI" dirty="0"/>
              <a:t> </a:t>
            </a:r>
            <a:r>
              <a:rPr lang="fi-FI" dirty="0" err="1"/>
              <a:t>promise</a:t>
            </a:r>
            <a:r>
              <a:rPr lang="fi-FI" dirty="0"/>
              <a:t> = </a:t>
            </a:r>
            <a:r>
              <a:rPr lang="fi-FI" dirty="0" err="1"/>
              <a:t>axios.get</a:t>
            </a:r>
            <a:r>
              <a:rPr lang="fi-FI" dirty="0"/>
              <a:t>('http://localhost:3001/</a:t>
            </a:r>
            <a:r>
              <a:rPr lang="fi-FI" dirty="0" err="1"/>
              <a:t>notes</a:t>
            </a:r>
            <a:r>
              <a:rPr lang="fi-FI" dirty="0"/>
              <a:t>')</a:t>
            </a:r>
          </a:p>
          <a:p>
            <a:r>
              <a:rPr lang="fi-FI" dirty="0" err="1"/>
              <a:t>console.log</a:t>
            </a:r>
            <a:r>
              <a:rPr lang="fi-FI" dirty="0"/>
              <a:t>(</a:t>
            </a:r>
            <a:r>
              <a:rPr lang="fi-FI" dirty="0" err="1"/>
              <a:t>promise</a:t>
            </a:r>
            <a:r>
              <a:rPr lang="fi-FI" dirty="0"/>
              <a:t>)</a:t>
            </a:r>
          </a:p>
          <a:p>
            <a:endParaRPr lang="fi-FI" dirty="0"/>
          </a:p>
          <a:p>
            <a:r>
              <a:rPr lang="fi-FI" dirty="0" err="1"/>
              <a:t>const</a:t>
            </a:r>
            <a:r>
              <a:rPr lang="fi-FI" dirty="0"/>
              <a:t> promise2 = </a:t>
            </a:r>
            <a:r>
              <a:rPr lang="fi-FI" dirty="0" err="1"/>
              <a:t>axios.get</a:t>
            </a:r>
            <a:r>
              <a:rPr lang="fi-FI" dirty="0"/>
              <a:t>('http://localhost:3001/</a:t>
            </a:r>
            <a:r>
              <a:rPr lang="fi-FI" dirty="0" err="1"/>
              <a:t>foobar</a:t>
            </a:r>
            <a:r>
              <a:rPr lang="fi-FI" dirty="0"/>
              <a:t>')</a:t>
            </a:r>
          </a:p>
          <a:p>
            <a:r>
              <a:rPr lang="fi-FI" dirty="0" err="1"/>
              <a:t>console.log</a:t>
            </a:r>
            <a:r>
              <a:rPr lang="fi-FI" dirty="0"/>
              <a:t>(promise2)</a:t>
            </a:r>
          </a:p>
        </p:txBody>
      </p:sp>
    </p:spTree>
    <p:extLst>
      <p:ext uri="{BB962C8B-B14F-4D97-AF65-F5344CB8AC3E}">
        <p14:creationId xmlns:p14="http://schemas.microsoft.com/office/powerpoint/2010/main" val="191111644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A9213-588F-FF60-8F62-EE4A8A06D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Axios</a:t>
            </a:r>
            <a:endParaRPr lang="fi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B23A4-BE56-73BF-6385-2626907557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165629" cy="4351338"/>
          </a:xfrm>
        </p:spPr>
        <p:txBody>
          <a:bodyPr/>
          <a:lstStyle/>
          <a:p>
            <a:r>
              <a:rPr lang="fi-FI" dirty="0"/>
              <a:t>Ensimmäinen </a:t>
            </a:r>
            <a:r>
              <a:rPr lang="fi-FI" dirty="0" err="1"/>
              <a:t>get</a:t>
            </a:r>
            <a:r>
              <a:rPr lang="fi-FI" dirty="0"/>
              <a:t> onnistuu ja toinen ei.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22B79F-D21A-60EE-1A6E-3E0E31B03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6847" y="2007925"/>
            <a:ext cx="6400800" cy="36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39940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F08A69CA-CD4E-864E-B1CF-B1AC6E2DF9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Promise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6450D9E2-6B82-122A-1E3E-6823A60D8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523953"/>
          </a:xfrm>
        </p:spPr>
        <p:txBody>
          <a:bodyPr>
            <a:normAutofit fontScale="85000" lnSpcReduction="10000"/>
          </a:bodyPr>
          <a:lstStyle/>
          <a:p>
            <a:r>
              <a:rPr lang="fi-FI" dirty="0" err="1"/>
              <a:t>Axiosin</a:t>
            </a:r>
            <a:r>
              <a:rPr lang="fi-FI" dirty="0"/>
              <a:t> metodi </a:t>
            </a:r>
            <a:r>
              <a:rPr lang="fi-FI" dirty="0" err="1"/>
              <a:t>get</a:t>
            </a:r>
            <a:r>
              <a:rPr lang="fi-FI" dirty="0"/>
              <a:t> palauttaa </a:t>
            </a:r>
            <a:r>
              <a:rPr lang="fi-FI" dirty="0" err="1"/>
              <a:t>promisen</a:t>
            </a:r>
            <a:r>
              <a:rPr lang="fi-FI" dirty="0"/>
              <a:t>.</a:t>
            </a:r>
          </a:p>
          <a:p>
            <a:r>
              <a:rPr lang="fi-FI" dirty="0"/>
              <a:t>Mozilla:</a:t>
            </a:r>
          </a:p>
          <a:p>
            <a:pPr lvl="1"/>
            <a:r>
              <a:rPr lang="fi-FI" dirty="0"/>
              <a:t>A </a:t>
            </a:r>
            <a:r>
              <a:rPr lang="fi-FI" dirty="0" err="1"/>
              <a:t>Promise</a:t>
            </a:r>
            <a:r>
              <a:rPr lang="fi-FI" dirty="0"/>
              <a:t> is an </a:t>
            </a:r>
            <a:r>
              <a:rPr lang="fi-FI" dirty="0" err="1"/>
              <a:t>object</a:t>
            </a:r>
            <a:r>
              <a:rPr lang="fi-FI" dirty="0"/>
              <a:t> </a:t>
            </a:r>
            <a:r>
              <a:rPr lang="fi-FI" dirty="0" err="1"/>
              <a:t>representing</a:t>
            </a:r>
            <a:r>
              <a:rPr lang="fi-FI" dirty="0"/>
              <a:t> </a:t>
            </a:r>
            <a:r>
              <a:rPr lang="fi-FI" dirty="0" err="1"/>
              <a:t>the</a:t>
            </a:r>
            <a:r>
              <a:rPr lang="fi-FI" dirty="0"/>
              <a:t> </a:t>
            </a:r>
            <a:r>
              <a:rPr lang="fi-FI" dirty="0" err="1"/>
              <a:t>eventual</a:t>
            </a:r>
            <a:r>
              <a:rPr lang="fi-FI" dirty="0"/>
              <a:t> </a:t>
            </a:r>
            <a:r>
              <a:rPr lang="fi-FI" b="1" dirty="0" err="1"/>
              <a:t>completion</a:t>
            </a:r>
            <a:r>
              <a:rPr lang="fi-FI" dirty="0"/>
              <a:t> </a:t>
            </a:r>
            <a:r>
              <a:rPr lang="fi-FI" dirty="0" err="1"/>
              <a:t>or</a:t>
            </a:r>
            <a:r>
              <a:rPr lang="fi-FI" dirty="0"/>
              <a:t> </a:t>
            </a:r>
            <a:r>
              <a:rPr lang="fi-FI" b="1" dirty="0" err="1"/>
              <a:t>failure</a:t>
            </a:r>
            <a:r>
              <a:rPr lang="fi-FI" dirty="0"/>
              <a:t> of an </a:t>
            </a:r>
            <a:r>
              <a:rPr lang="fi-FI" b="1" dirty="0" err="1"/>
              <a:t>asynchronous</a:t>
            </a:r>
            <a:r>
              <a:rPr lang="fi-FI" dirty="0"/>
              <a:t> </a:t>
            </a:r>
            <a:r>
              <a:rPr lang="fi-FI" dirty="0" err="1"/>
              <a:t>operation</a:t>
            </a:r>
            <a:r>
              <a:rPr lang="fi-FI" dirty="0"/>
              <a:t>.</a:t>
            </a:r>
          </a:p>
          <a:p>
            <a:r>
              <a:rPr lang="fi-FI" dirty="0" err="1"/>
              <a:t>Promiselle</a:t>
            </a:r>
            <a:r>
              <a:rPr lang="fi-FI" dirty="0"/>
              <a:t> lisätään tapahtumankuuntelija metodilla </a:t>
            </a:r>
            <a:r>
              <a:rPr lang="fi-FI" dirty="0" err="1"/>
              <a:t>then</a:t>
            </a:r>
            <a:endParaRPr lang="fi-FI" dirty="0"/>
          </a:p>
          <a:p>
            <a:r>
              <a:rPr lang="fi-FI" dirty="0" err="1"/>
              <a:t>Promise</a:t>
            </a:r>
            <a:r>
              <a:rPr lang="fi-FI" dirty="0"/>
              <a:t> suoritetaan tässä tapauksessa </a:t>
            </a:r>
            <a:r>
              <a:rPr lang="fi-FI" b="1" i="1" dirty="0"/>
              <a:t>asynkronisesti</a:t>
            </a:r>
            <a:r>
              <a:rPr lang="fi-FI" dirty="0"/>
              <a:t> vasta sitten, kun </a:t>
            </a:r>
            <a:r>
              <a:rPr lang="fi-FI" dirty="0" err="1"/>
              <a:t>axios.get</a:t>
            </a:r>
            <a:r>
              <a:rPr lang="fi-FI" dirty="0"/>
              <a:t> on valmis. Ohjelman suoritus jatkuu </a:t>
            </a:r>
            <a:r>
              <a:rPr lang="fi-FI" dirty="0" err="1"/>
              <a:t>get</a:t>
            </a:r>
            <a:r>
              <a:rPr lang="fi-FI" dirty="0"/>
              <a:t>-metodista välittömästi eteenpäin</a:t>
            </a:r>
          </a:p>
        </p:txBody>
      </p:sp>
      <p:sp>
        <p:nvSpPr>
          <p:cNvPr id="5" name="Tekstiruutu 4">
            <a:extLst>
              <a:ext uri="{FF2B5EF4-FFF2-40B4-BE49-F238E27FC236}">
                <a16:creationId xmlns:a16="http://schemas.microsoft.com/office/drawing/2014/main" id="{955C19E6-B6A3-0C40-6C03-69D7BAB35F08}"/>
              </a:ext>
            </a:extLst>
          </p:cNvPr>
          <p:cNvSpPr txBox="1"/>
          <p:nvPr/>
        </p:nvSpPr>
        <p:spPr>
          <a:xfrm>
            <a:off x="2905788" y="4804111"/>
            <a:ext cx="609805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dirty="0" err="1"/>
              <a:t>const</a:t>
            </a:r>
            <a:r>
              <a:rPr lang="fi-FI" dirty="0"/>
              <a:t> </a:t>
            </a:r>
            <a:r>
              <a:rPr lang="fi-FI" dirty="0" err="1"/>
              <a:t>promise</a:t>
            </a:r>
            <a:r>
              <a:rPr lang="fi-FI" dirty="0"/>
              <a:t> = </a:t>
            </a:r>
            <a:r>
              <a:rPr lang="fi-FI" dirty="0" err="1"/>
              <a:t>axios.get</a:t>
            </a:r>
            <a:r>
              <a:rPr lang="fi-FI" dirty="0"/>
              <a:t>('http://localhost:3001/</a:t>
            </a:r>
            <a:r>
              <a:rPr lang="fi-FI" dirty="0" err="1"/>
              <a:t>notes</a:t>
            </a:r>
            <a:r>
              <a:rPr lang="fi-FI" dirty="0"/>
              <a:t>')</a:t>
            </a:r>
          </a:p>
          <a:p>
            <a:endParaRPr lang="fi-FI" dirty="0"/>
          </a:p>
          <a:p>
            <a:r>
              <a:rPr lang="fi-FI" dirty="0" err="1"/>
              <a:t>promise.then</a:t>
            </a:r>
            <a:r>
              <a:rPr lang="fi-FI" dirty="0"/>
              <a:t>(</a:t>
            </a:r>
            <a:r>
              <a:rPr lang="fi-FI" dirty="0" err="1"/>
              <a:t>response</a:t>
            </a:r>
            <a:r>
              <a:rPr lang="fi-FI" dirty="0"/>
              <a:t> =&gt; {</a:t>
            </a:r>
          </a:p>
          <a:p>
            <a:r>
              <a:rPr lang="fi-FI" dirty="0"/>
              <a:t>  </a:t>
            </a:r>
            <a:r>
              <a:rPr lang="fi-FI" dirty="0" err="1"/>
              <a:t>console.log</a:t>
            </a:r>
            <a:r>
              <a:rPr lang="fi-FI" dirty="0"/>
              <a:t>(</a:t>
            </a:r>
            <a:r>
              <a:rPr lang="fi-FI" dirty="0" err="1"/>
              <a:t>response</a:t>
            </a:r>
            <a:r>
              <a:rPr lang="fi-FI" dirty="0"/>
              <a:t>)</a:t>
            </a:r>
          </a:p>
          <a:p>
            <a:r>
              <a:rPr lang="fi-FI" dirty="0"/>
              <a:t>})</a:t>
            </a:r>
          </a:p>
        </p:txBody>
      </p:sp>
    </p:spTree>
    <p:extLst>
      <p:ext uri="{BB962C8B-B14F-4D97-AF65-F5344CB8AC3E}">
        <p14:creationId xmlns:p14="http://schemas.microsoft.com/office/powerpoint/2010/main" val="287446117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B61347D2-9AD8-8853-699C-50039B788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Promise</a:t>
            </a:r>
            <a:endParaRPr lang="fi-FI" dirty="0"/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5ECD0CC9-CD92-83C1-27EB-DD16323C1C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fi-FI" dirty="0"/>
              <a:t>Yleinen tapa:</a:t>
            </a:r>
          </a:p>
          <a:p>
            <a:pPr marL="457200" lvl="1" indent="0">
              <a:buNone/>
            </a:pPr>
            <a:r>
              <a:rPr lang="fi-FI" dirty="0" err="1"/>
              <a:t>axios.get</a:t>
            </a:r>
            <a:r>
              <a:rPr lang="fi-FI" dirty="0"/>
              <a:t>('http://localhost:3001/</a:t>
            </a:r>
            <a:r>
              <a:rPr lang="fi-FI" dirty="0" err="1"/>
              <a:t>notes</a:t>
            </a:r>
            <a:r>
              <a:rPr lang="fi-FI" dirty="0"/>
              <a:t>').</a:t>
            </a:r>
            <a:r>
              <a:rPr lang="fi-FI" dirty="0" err="1"/>
              <a:t>then</a:t>
            </a:r>
            <a:r>
              <a:rPr lang="fi-FI" dirty="0"/>
              <a:t>(</a:t>
            </a:r>
            <a:r>
              <a:rPr lang="fi-FI" dirty="0" err="1"/>
              <a:t>response</a:t>
            </a:r>
            <a:r>
              <a:rPr lang="fi-FI" dirty="0"/>
              <a:t> =&gt; {</a:t>
            </a:r>
          </a:p>
          <a:p>
            <a:pPr marL="457200" lvl="1" indent="0">
              <a:buNone/>
            </a:pPr>
            <a:r>
              <a:rPr lang="fi-FI" dirty="0"/>
              <a:t>  </a:t>
            </a:r>
            <a:r>
              <a:rPr lang="fi-FI" dirty="0" err="1"/>
              <a:t>const</a:t>
            </a:r>
            <a:r>
              <a:rPr lang="fi-FI" dirty="0"/>
              <a:t> </a:t>
            </a:r>
            <a:r>
              <a:rPr lang="fi-FI" dirty="0" err="1"/>
              <a:t>notes</a:t>
            </a:r>
            <a:r>
              <a:rPr lang="fi-FI" dirty="0"/>
              <a:t> = </a:t>
            </a:r>
            <a:r>
              <a:rPr lang="fi-FI" dirty="0" err="1"/>
              <a:t>response.data</a:t>
            </a:r>
            <a:endParaRPr lang="fi-FI" dirty="0"/>
          </a:p>
          <a:p>
            <a:pPr marL="457200" lvl="1" indent="0">
              <a:buNone/>
            </a:pPr>
            <a:r>
              <a:rPr lang="fi-FI" dirty="0"/>
              <a:t>  </a:t>
            </a:r>
            <a:r>
              <a:rPr lang="fi-FI" dirty="0" err="1"/>
              <a:t>console.log</a:t>
            </a:r>
            <a:r>
              <a:rPr lang="fi-FI" dirty="0"/>
              <a:t>(</a:t>
            </a:r>
            <a:r>
              <a:rPr lang="fi-FI" dirty="0" err="1"/>
              <a:t>notes</a:t>
            </a:r>
            <a:r>
              <a:rPr lang="fi-FI" dirty="0"/>
              <a:t>)</a:t>
            </a:r>
          </a:p>
          <a:p>
            <a:pPr marL="457200" lvl="1" indent="0">
              <a:buNone/>
            </a:pPr>
            <a:r>
              <a:rPr lang="fi-FI" dirty="0"/>
              <a:t>})</a:t>
            </a:r>
          </a:p>
          <a:p>
            <a:r>
              <a:rPr lang="fi-FI" dirty="0"/>
              <a:t>Luettavampi tapa formatoida ketjutettuja metodikutsuja on sijoittaa jokainen kutsu omalle rivilleen:</a:t>
            </a:r>
          </a:p>
          <a:p>
            <a:pPr marL="457200" lvl="1" indent="0">
              <a:buNone/>
            </a:pPr>
            <a:r>
              <a:rPr lang="fi-FI" dirty="0" err="1"/>
              <a:t>axios</a:t>
            </a:r>
            <a:endParaRPr lang="fi-FI" dirty="0"/>
          </a:p>
          <a:p>
            <a:pPr marL="457200" lvl="1" indent="0">
              <a:buNone/>
            </a:pPr>
            <a:r>
              <a:rPr lang="fi-FI" dirty="0"/>
              <a:t>  .</a:t>
            </a:r>
            <a:r>
              <a:rPr lang="fi-FI" dirty="0" err="1"/>
              <a:t>get</a:t>
            </a:r>
            <a:r>
              <a:rPr lang="fi-FI" dirty="0"/>
              <a:t>('http://localhost:3001/</a:t>
            </a:r>
            <a:r>
              <a:rPr lang="fi-FI" dirty="0" err="1"/>
              <a:t>notes</a:t>
            </a:r>
            <a:r>
              <a:rPr lang="fi-FI" dirty="0"/>
              <a:t>')</a:t>
            </a:r>
          </a:p>
          <a:p>
            <a:pPr marL="457200" lvl="1" indent="0">
              <a:buNone/>
            </a:pPr>
            <a:r>
              <a:rPr lang="fi-FI" dirty="0"/>
              <a:t>  .</a:t>
            </a:r>
            <a:r>
              <a:rPr lang="fi-FI" dirty="0" err="1"/>
              <a:t>then</a:t>
            </a:r>
            <a:r>
              <a:rPr lang="fi-FI" dirty="0"/>
              <a:t>(</a:t>
            </a:r>
            <a:r>
              <a:rPr lang="fi-FI" dirty="0" err="1"/>
              <a:t>response</a:t>
            </a:r>
            <a:r>
              <a:rPr lang="fi-FI" dirty="0"/>
              <a:t> =&gt; {</a:t>
            </a:r>
          </a:p>
          <a:p>
            <a:pPr marL="457200" lvl="1" indent="0">
              <a:buNone/>
            </a:pPr>
            <a:r>
              <a:rPr lang="fi-FI" dirty="0"/>
              <a:t>    </a:t>
            </a:r>
            <a:r>
              <a:rPr lang="fi-FI" dirty="0" err="1"/>
              <a:t>const</a:t>
            </a:r>
            <a:r>
              <a:rPr lang="fi-FI" dirty="0"/>
              <a:t> </a:t>
            </a:r>
            <a:r>
              <a:rPr lang="fi-FI" dirty="0" err="1"/>
              <a:t>notes</a:t>
            </a:r>
            <a:r>
              <a:rPr lang="fi-FI" dirty="0"/>
              <a:t> = </a:t>
            </a:r>
            <a:r>
              <a:rPr lang="fi-FI" dirty="0" err="1"/>
              <a:t>response.data</a:t>
            </a:r>
            <a:endParaRPr lang="fi-FI" dirty="0"/>
          </a:p>
          <a:p>
            <a:pPr marL="457200" lvl="1" indent="0">
              <a:buNone/>
            </a:pPr>
            <a:r>
              <a:rPr lang="fi-FI" dirty="0"/>
              <a:t>    </a:t>
            </a:r>
            <a:r>
              <a:rPr lang="fi-FI" dirty="0" err="1"/>
              <a:t>console.log</a:t>
            </a:r>
            <a:r>
              <a:rPr lang="fi-FI" dirty="0"/>
              <a:t>(</a:t>
            </a:r>
            <a:r>
              <a:rPr lang="fi-FI" dirty="0" err="1"/>
              <a:t>notes</a:t>
            </a:r>
            <a:r>
              <a:rPr lang="fi-FI" dirty="0"/>
              <a:t>)</a:t>
            </a:r>
          </a:p>
          <a:p>
            <a:pPr marL="457200" lvl="1" indent="0">
              <a:buNone/>
            </a:pPr>
            <a:r>
              <a:rPr lang="fi-FI" dirty="0"/>
              <a:t> })</a:t>
            </a:r>
          </a:p>
          <a:p>
            <a:r>
              <a:rPr lang="fi-FI" dirty="0"/>
              <a:t>Kokeile edellä olevaa koodia </a:t>
            </a:r>
            <a:r>
              <a:rPr lang="fi-FI" dirty="0" err="1"/>
              <a:t>main.jsx:ssä</a:t>
            </a:r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286234620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6F7A374C-51BE-8658-D510-8E12ED7BA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Effect</a:t>
            </a:r>
            <a:r>
              <a:rPr lang="fi-FI" dirty="0"/>
              <a:t> </a:t>
            </a:r>
            <a:r>
              <a:rPr lang="fi-FI"/>
              <a:t>hookit</a:t>
            </a:r>
          </a:p>
        </p:txBody>
      </p:sp>
      <p:sp>
        <p:nvSpPr>
          <p:cNvPr id="3" name="Sisällön paikkamerkki 2">
            <a:extLst>
              <a:ext uri="{FF2B5EF4-FFF2-40B4-BE49-F238E27FC236}">
                <a16:creationId xmlns:a16="http://schemas.microsoft.com/office/drawing/2014/main" id="{433DDD93-782A-9A28-CFD1-4B9AA8168A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98992"/>
            <a:ext cx="5924739" cy="4351338"/>
          </a:xfrm>
        </p:spPr>
        <p:txBody>
          <a:bodyPr>
            <a:normAutofit fontScale="92500" lnSpcReduction="10000"/>
          </a:bodyPr>
          <a:lstStyle/>
          <a:p>
            <a:r>
              <a:rPr lang="en-US" sz="2400" i="1" dirty="0"/>
              <a:t>“The Effect Hook lets you perform </a:t>
            </a:r>
            <a:r>
              <a:rPr lang="en-US" sz="2400" b="1" i="1" dirty="0"/>
              <a:t>side effects </a:t>
            </a:r>
            <a:r>
              <a:rPr lang="en-US" sz="2400" i="1" dirty="0"/>
              <a:t>in function components. Data </a:t>
            </a:r>
            <a:r>
              <a:rPr lang="en-US" sz="2400" b="1" i="1" dirty="0"/>
              <a:t>fetching</a:t>
            </a:r>
            <a:r>
              <a:rPr lang="en-US" sz="2400" i="1" dirty="0"/>
              <a:t>, setting up a subscription, and manually changing the DOM in React components are all examples of side effects.”</a:t>
            </a:r>
          </a:p>
          <a:p>
            <a:r>
              <a:rPr lang="fi-FI" sz="2400" dirty="0" err="1"/>
              <a:t>Axios.get</a:t>
            </a:r>
            <a:r>
              <a:rPr lang="fi-FI" sz="2400" dirty="0"/>
              <a:t> tehdään </a:t>
            </a:r>
            <a:r>
              <a:rPr lang="fi-FI" sz="2400" dirty="0" err="1"/>
              <a:t>useEffect</a:t>
            </a:r>
            <a:r>
              <a:rPr lang="fi-FI" sz="2400" dirty="0"/>
              <a:t>-funktiolle parametrina annetussa funktiossa</a:t>
            </a:r>
          </a:p>
          <a:p>
            <a:r>
              <a:rPr lang="fi-FI" sz="2400" dirty="0"/>
              <a:t>Poista datan hakeminen tiedostosta </a:t>
            </a:r>
            <a:r>
              <a:rPr lang="fi-FI" sz="2400" dirty="0" err="1"/>
              <a:t>main.jsx</a:t>
            </a:r>
            <a:r>
              <a:rPr lang="fi-FI" sz="2400" dirty="0"/>
              <a:t>. Komponentille </a:t>
            </a:r>
            <a:r>
              <a:rPr lang="fi-FI" sz="2400" dirty="0" err="1"/>
              <a:t>App</a:t>
            </a:r>
            <a:r>
              <a:rPr lang="fi-FI" sz="2400" dirty="0"/>
              <a:t> ei ole enää tarvetta välittää dataa propseina. </a:t>
            </a:r>
          </a:p>
          <a:p>
            <a:pPr lvl="1"/>
            <a:r>
              <a:rPr lang="fi-FI" sz="2000" dirty="0" err="1"/>
              <a:t>ReactDOM.createRoot</a:t>
            </a:r>
            <a:r>
              <a:rPr lang="fi-FI" sz="2000" dirty="0"/>
              <a:t>(</a:t>
            </a:r>
            <a:r>
              <a:rPr lang="fi-FI" sz="2000" dirty="0" err="1"/>
              <a:t>document.getElementById</a:t>
            </a:r>
            <a:r>
              <a:rPr lang="fi-FI" sz="2000" dirty="0"/>
              <a:t>('</a:t>
            </a:r>
            <a:r>
              <a:rPr lang="fi-FI" sz="2000" dirty="0" err="1"/>
              <a:t>root</a:t>
            </a:r>
            <a:r>
              <a:rPr lang="fi-FI" sz="2000" dirty="0"/>
              <a:t>')).</a:t>
            </a:r>
            <a:r>
              <a:rPr lang="fi-FI" sz="2000" dirty="0" err="1"/>
              <a:t>render</a:t>
            </a:r>
            <a:r>
              <a:rPr lang="fi-FI" sz="2000" dirty="0"/>
              <a:t>(&lt;</a:t>
            </a:r>
            <a:r>
              <a:rPr lang="fi-FI" sz="2000" dirty="0" err="1"/>
              <a:t>App</a:t>
            </a:r>
            <a:r>
              <a:rPr lang="fi-FI" sz="2000" dirty="0"/>
              <a:t> /&gt;)</a:t>
            </a:r>
          </a:p>
          <a:p>
            <a:r>
              <a:rPr lang="fi-FI" sz="2400" dirty="0" err="1"/>
              <a:t>App</a:t>
            </a:r>
            <a:r>
              <a:rPr lang="fi-FI" sz="2400" dirty="0"/>
              <a:t>-komponentin alku on ohessa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F891B09-954B-C5D6-250E-8470777CA8E3}"/>
              </a:ext>
            </a:extLst>
          </p:cNvPr>
          <p:cNvSpPr txBox="1"/>
          <p:nvPr/>
        </p:nvSpPr>
        <p:spPr>
          <a:xfrm>
            <a:off x="7108046" y="2174168"/>
            <a:ext cx="4697673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useEffect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i-FI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axios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i-FI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axios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'./</a:t>
            </a:r>
            <a:r>
              <a:rPr lang="fi-FI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components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fi-FI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()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notes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setNotes] =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[]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newNote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setNewNote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showAll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setShowAll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useEffect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(() </a:t>
            </a:r>
            <a:r>
              <a:rPr lang="fi-FI" sz="12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console.log(</a:t>
            </a:r>
            <a:r>
              <a:rPr lang="fi-FI" sz="12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'</a:t>
            </a:r>
            <a:r>
              <a:rPr lang="fi-FI" sz="12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effect</a:t>
            </a:r>
            <a:r>
              <a:rPr lang="fi-FI" sz="12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'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axios</a:t>
            </a:r>
            <a:endParaRPr lang="fi-FI" sz="12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.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fi-FI" sz="12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'http://localhost:3001/</a:t>
            </a:r>
            <a:r>
              <a:rPr lang="fi-FI" sz="12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notes</a:t>
            </a:r>
            <a:r>
              <a:rPr lang="fi-FI" sz="12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'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.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then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response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console.log(</a:t>
            </a:r>
            <a:r>
              <a:rPr lang="fi-FI" sz="12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'</a:t>
            </a:r>
            <a:r>
              <a:rPr lang="fi-FI" sz="12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promise</a:t>
            </a:r>
            <a:r>
              <a:rPr lang="fi-FI" sz="12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fulfilled</a:t>
            </a:r>
            <a:r>
              <a:rPr lang="fi-FI" sz="12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'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setNotes(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response.data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})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}, [])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console.log(</a:t>
            </a:r>
            <a:r>
              <a:rPr lang="fi-FI" sz="12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'</a:t>
            </a:r>
            <a:r>
              <a:rPr lang="fi-FI" sz="12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render</a:t>
            </a:r>
            <a:r>
              <a:rPr lang="fi-FI" sz="12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'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notes.length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fi-FI" sz="12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'</a:t>
            </a:r>
            <a:r>
              <a:rPr lang="fi-FI" sz="12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notes</a:t>
            </a:r>
            <a:r>
              <a:rPr lang="fi-FI" sz="12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'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47134841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D88F5E-5430-BACE-640A-B8DCBC15A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Suoritusympäristö kehitysaikana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0F6F9B-C13D-8442-4251-C791194567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089400" cy="4351338"/>
          </a:xfrm>
        </p:spPr>
        <p:txBody>
          <a:bodyPr>
            <a:normAutofit/>
          </a:bodyPr>
          <a:lstStyle/>
          <a:p>
            <a:r>
              <a:rPr lang="fi-FI" sz="2000" dirty="0" err="1"/>
              <a:t>React</a:t>
            </a:r>
            <a:r>
              <a:rPr lang="fi-FI" sz="2000" dirty="0"/>
              <a:t>-sovelluksen muodostavaa JavaScript-koodia suoritetaan selaimessa. Selain hakee JavaScriptin </a:t>
            </a:r>
            <a:r>
              <a:rPr lang="fi-FI" sz="2000" dirty="0" err="1"/>
              <a:t>React</a:t>
            </a:r>
            <a:r>
              <a:rPr lang="fi-FI" sz="2000" dirty="0"/>
              <a:t> </a:t>
            </a:r>
            <a:r>
              <a:rPr lang="fi-FI" sz="2000" dirty="0" err="1"/>
              <a:t>Development</a:t>
            </a:r>
            <a:r>
              <a:rPr lang="fi-FI" sz="2000" dirty="0"/>
              <a:t> Serveriltä (portti 5173).</a:t>
            </a:r>
          </a:p>
          <a:p>
            <a:r>
              <a:rPr lang="fi-FI" sz="2000" dirty="0"/>
              <a:t>JSON-muodossa olevan datan selaimessa pyörivä </a:t>
            </a:r>
            <a:r>
              <a:rPr lang="fi-FI" sz="2000" dirty="0" err="1"/>
              <a:t>React</a:t>
            </a:r>
            <a:r>
              <a:rPr lang="fi-FI" sz="2000" dirty="0"/>
              <a:t>-sovellus hakee koneella portissa 3001 käynnissä olevalta JSON Serveriltä, joka taas saa JSON-datan tiedostosta </a:t>
            </a:r>
            <a:r>
              <a:rPr lang="fi-FI" sz="2000" dirty="0" err="1"/>
              <a:t>db.json</a:t>
            </a:r>
            <a:r>
              <a:rPr lang="fi-FI" sz="2000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57F89F-EA54-4910-027D-387BA9E7C3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7945" y="1920399"/>
            <a:ext cx="5988732" cy="4161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61672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89402-0A6E-5827-E9C5-7BDF12F78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Tehtävä 2.11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F25F5D-762C-DF40-400F-EFDF14BA76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18040156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6663F0-24D8-840D-819F-7F8E9AF597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i-FI" dirty="0"/>
              <a:t>Palvelimella olevan datan muokkaaminen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0F5732-9C8E-45A3-C821-4486E50B281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39746876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2D1E8-D743-BDCD-A7C4-1404DB4D0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REST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DB01A-E987-DF82-4122-858FCFF589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fi-FI" dirty="0" err="1"/>
              <a:t>REST:issä</a:t>
            </a:r>
            <a:r>
              <a:rPr lang="fi-FI" dirty="0"/>
              <a:t> yksittäisiä asioita, esim. meidän tapauksessamme muistiinpanoja, kutsutaan resursseiksi. Jokaisella resurssilla on yksilöivä osoite eli URL. JSON Serverin noudattaman yleisen konvention mukaan yksittäistä muistiinpanoa kuvaavan resurssin URL on muotoa </a:t>
            </a:r>
            <a:r>
              <a:rPr lang="fi-FI" dirty="0" err="1"/>
              <a:t>notes</a:t>
            </a:r>
            <a:r>
              <a:rPr lang="fi-FI" dirty="0"/>
              <a:t>/3, missä 3 on resurssin tunniste. Osoite </a:t>
            </a:r>
            <a:r>
              <a:rPr lang="fi-FI" dirty="0" err="1"/>
              <a:t>notes</a:t>
            </a:r>
            <a:r>
              <a:rPr lang="fi-FI" dirty="0"/>
              <a:t> taas vastaa kaikkien yksittäisten muistiinpanojen kokoelmaa (listaa).</a:t>
            </a:r>
          </a:p>
          <a:p>
            <a:r>
              <a:rPr lang="fi-FI" dirty="0"/>
              <a:t>Resursseja haetaan palvelimelta HTTP GET ‑pyynnöillä. Esim. HTTP GET osoitteeseen </a:t>
            </a:r>
            <a:r>
              <a:rPr lang="fi-FI" dirty="0" err="1"/>
              <a:t>notes</a:t>
            </a:r>
            <a:r>
              <a:rPr lang="fi-FI" dirty="0"/>
              <a:t>/3 palauttaa muistiinpanon, jonka id-kentän arvo on 3. HTTP GET ‑pyyntö osoitteeseen </a:t>
            </a:r>
            <a:r>
              <a:rPr lang="fi-FI" dirty="0" err="1"/>
              <a:t>notes</a:t>
            </a:r>
            <a:r>
              <a:rPr lang="fi-FI" dirty="0"/>
              <a:t> palauttaa kaikki muistiinpanot.</a:t>
            </a:r>
          </a:p>
          <a:p>
            <a:r>
              <a:rPr lang="fi-FI" dirty="0"/>
              <a:t>Uuden muistiinpanon lisääminen tapahtuu HTTP POST ‑pyynnöllä, joka kohdistuu osoitteeseen </a:t>
            </a:r>
            <a:r>
              <a:rPr lang="fi-FI" dirty="0" err="1"/>
              <a:t>notes</a:t>
            </a:r>
            <a:r>
              <a:rPr lang="fi-FI" dirty="0"/>
              <a:t>. Pyynnön mukana sen runkona eli </a:t>
            </a:r>
            <a:r>
              <a:rPr lang="fi-FI" dirty="0" err="1"/>
              <a:t>bodynä</a:t>
            </a:r>
            <a:r>
              <a:rPr lang="fi-FI" dirty="0"/>
              <a:t> lähetetään luotavan muistiinpanon tiedot.</a:t>
            </a:r>
          </a:p>
          <a:p>
            <a:r>
              <a:rPr lang="fi-FI" dirty="0"/>
              <a:t>Tiedot lähetetään JSON-muodossa. HTTP-</a:t>
            </a:r>
            <a:r>
              <a:rPr lang="fi-FI" dirty="0" err="1"/>
              <a:t>headerille</a:t>
            </a:r>
            <a:r>
              <a:rPr lang="fi-FI" dirty="0"/>
              <a:t> </a:t>
            </a:r>
            <a:r>
              <a:rPr lang="fi-FI" dirty="0" err="1"/>
              <a:t>Content-Type:ksi</a:t>
            </a:r>
            <a:r>
              <a:rPr lang="fi-FI" dirty="0"/>
              <a:t> laitetaan arvo </a:t>
            </a:r>
            <a:r>
              <a:rPr lang="fi-FI" dirty="0" err="1"/>
              <a:t>application</a:t>
            </a:r>
            <a:r>
              <a:rPr lang="fi-FI" dirty="0"/>
              <a:t>/</a:t>
            </a:r>
            <a:r>
              <a:rPr lang="fi-FI" dirty="0" err="1"/>
              <a:t>json</a:t>
            </a:r>
            <a:r>
              <a:rPr lang="fi-FI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41087620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9074E-A124-75B2-141A-56B8D3E7AA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Datan lähetys palvelimelle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BABF4-7EF1-908C-57B9-96C47EC934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6748"/>
            <a:ext cx="5145350" cy="4351338"/>
          </a:xfrm>
        </p:spPr>
        <p:txBody>
          <a:bodyPr>
            <a:normAutofit lnSpcReduction="10000"/>
          </a:bodyPr>
          <a:lstStyle/>
          <a:p>
            <a:r>
              <a:rPr lang="fi-FI" sz="2400" dirty="0"/>
              <a:t>Muuta </a:t>
            </a:r>
            <a:r>
              <a:rPr lang="fi-FI" sz="2400" dirty="0" err="1"/>
              <a:t>addNote</a:t>
            </a:r>
            <a:r>
              <a:rPr lang="fi-FI" sz="2400" dirty="0"/>
              <a:t>-tapahtumankäsittelijää siten, että muistiinpano lähetään palvelimelle</a:t>
            </a:r>
          </a:p>
          <a:p>
            <a:r>
              <a:rPr lang="fi-FI" sz="2400" dirty="0"/>
              <a:t>Tee olio. Älä lisää id-kenttää, sillä palvelin generoi sen.</a:t>
            </a:r>
          </a:p>
          <a:p>
            <a:r>
              <a:rPr lang="fi-FI" sz="2400" dirty="0"/>
              <a:t>Lähetä olio palvelimelle </a:t>
            </a:r>
            <a:r>
              <a:rPr lang="fi-FI" sz="2400" dirty="0" err="1"/>
              <a:t>Post:lla</a:t>
            </a:r>
            <a:endParaRPr lang="fi-FI" sz="2400" dirty="0"/>
          </a:p>
          <a:p>
            <a:r>
              <a:rPr lang="fi-FI" sz="2400" dirty="0"/>
              <a:t>Katso selaimella palvelimen tila:</a:t>
            </a:r>
          </a:p>
          <a:p>
            <a:pPr lvl="1"/>
            <a:r>
              <a:rPr lang="fi-FI" sz="2000" dirty="0"/>
              <a:t>localhost:3001/</a:t>
            </a:r>
            <a:r>
              <a:rPr lang="fi-FI" sz="2000" dirty="0" err="1"/>
              <a:t>notes</a:t>
            </a:r>
            <a:endParaRPr lang="fi-FI" sz="2000" dirty="0"/>
          </a:p>
          <a:p>
            <a:r>
              <a:rPr lang="fi-FI" sz="2400" dirty="0"/>
              <a:t>Koodi on GitHubissa:</a:t>
            </a:r>
          </a:p>
          <a:p>
            <a:pPr lvl="1"/>
            <a:r>
              <a:rPr lang="fi-FI" sz="2000" dirty="0">
                <a:hlinkClick r:id="rId2"/>
              </a:rPr>
              <a:t>https://github.com/fullstack-hy2020/part2-notes-frontend/tree/part2-5</a:t>
            </a:r>
            <a:r>
              <a:rPr lang="fi-FI" sz="2000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5333E4-F816-B271-5225-5E697B8CB40B}"/>
              </a:ext>
            </a:extLst>
          </p:cNvPr>
          <p:cNvSpPr txBox="1"/>
          <p:nvPr/>
        </p:nvSpPr>
        <p:spPr>
          <a:xfrm>
            <a:off x="6208452" y="1905506"/>
            <a:ext cx="566987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addNote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(event)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event.preventDefault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noteObject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content: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newNote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important: </a:t>
            </a:r>
            <a:r>
              <a:rPr lang="en-US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Math.random</a:t>
            </a:r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&gt; </a:t>
            </a:r>
            <a:r>
              <a:rPr lang="en-US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0.5</a:t>
            </a:r>
            <a:endParaRPr lang="en-US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en-US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en-US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axios</a:t>
            </a:r>
            <a:endParaRPr lang="en-US" sz="12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en-US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.post(</a:t>
            </a:r>
            <a:r>
              <a:rPr lang="en-US" sz="12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'http://localhost:3001/notes'</a:t>
            </a:r>
            <a:r>
              <a:rPr lang="en-US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en-US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noteObject</a:t>
            </a:r>
            <a:r>
              <a:rPr lang="en-US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.then(response </a:t>
            </a:r>
            <a:r>
              <a:rPr lang="en-US" sz="12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=&gt;</a:t>
            </a:r>
            <a:r>
              <a:rPr lang="en-US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setNotes</a:t>
            </a:r>
            <a:r>
              <a:rPr lang="en-US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notes.concat</a:t>
            </a:r>
            <a:r>
              <a:rPr lang="en-US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response.data</a:t>
            </a:r>
            <a:r>
              <a:rPr lang="en-US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))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en-US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setNewNote</a:t>
            </a:r>
            <a:r>
              <a:rPr lang="en-US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sz="12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''</a:t>
            </a:r>
            <a:r>
              <a:rPr lang="en-US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        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console.log(response)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})</a:t>
            </a:r>
          </a:p>
          <a:p>
            <a:r>
              <a:rPr lang="en-US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</p:txBody>
      </p:sp>
    </p:spTree>
    <p:extLst>
      <p:ext uri="{BB962C8B-B14F-4D97-AF65-F5344CB8AC3E}">
        <p14:creationId xmlns:p14="http://schemas.microsoft.com/office/powerpoint/2010/main" val="1770157399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056D1-2C92-BC9B-455C-DD03B6714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Tiedon muuttaminen (muistiinpanon tärkeyden muutos)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230A2-3DD6-D65D-4BDD-C1A66C9B9A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1015229"/>
          </a:xfrm>
        </p:spPr>
        <p:txBody>
          <a:bodyPr>
            <a:normAutofit/>
          </a:bodyPr>
          <a:lstStyle/>
          <a:p>
            <a:r>
              <a:rPr lang="fi-FI" sz="2400" dirty="0"/>
              <a:t>Lisätään painikkeet, joilla muistiinpanojen tärkeyttä voi muuttaa.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38D0698-AB65-89E5-2D37-D1FB71BE2311}"/>
              </a:ext>
            </a:extLst>
          </p:cNvPr>
          <p:cNvSpPr txBox="1"/>
          <p:nvPr/>
        </p:nvSpPr>
        <p:spPr>
          <a:xfrm>
            <a:off x="838200" y="3551067"/>
            <a:ext cx="538652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({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toggleImportance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})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note.important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? 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i-FI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make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important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i-FI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make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important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&lt;li&gt;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note.content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i-FI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toggleImportance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label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i-FI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&lt;/li&gt;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AF6D9AC-3AF7-54AE-410B-505173A2970D}"/>
              </a:ext>
            </a:extLst>
          </p:cNvPr>
          <p:cNvSpPr txBox="1"/>
          <p:nvPr/>
        </p:nvSpPr>
        <p:spPr>
          <a:xfrm>
            <a:off x="6438531" y="1469126"/>
            <a:ext cx="5519691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useEffect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i-FI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axios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i-FI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axios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'./</a:t>
            </a:r>
            <a:r>
              <a:rPr lang="fi-FI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components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fi-FI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()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notes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setNotes] =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([])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newNote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setNewNote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showAll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setShowAll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toggleImportanceOf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(id) </a:t>
            </a:r>
            <a:r>
              <a:rPr lang="fi-FI" sz="12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console.log(</a:t>
            </a:r>
            <a:r>
              <a:rPr lang="fi-FI" sz="12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'</a:t>
            </a:r>
            <a:r>
              <a:rPr lang="fi-FI" sz="12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importance</a:t>
            </a:r>
            <a:r>
              <a:rPr lang="fi-FI" sz="12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of '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+ id + </a:t>
            </a:r>
            <a:r>
              <a:rPr lang="fi-FI" sz="12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' </a:t>
            </a:r>
            <a:r>
              <a:rPr lang="fi-FI" sz="12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needs</a:t>
            </a:r>
            <a:r>
              <a:rPr lang="fi-FI" sz="12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to </a:t>
            </a:r>
            <a:r>
              <a:rPr lang="fi-FI" sz="12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be</a:t>
            </a:r>
            <a:r>
              <a:rPr lang="fi-FI" sz="12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toggled</a:t>
            </a:r>
            <a:r>
              <a:rPr lang="fi-FI" sz="12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'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} 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9048C0-0449-E148-C550-924AF700D5B4}"/>
              </a:ext>
            </a:extLst>
          </p:cNvPr>
          <p:cNvSpPr txBox="1"/>
          <p:nvPr/>
        </p:nvSpPr>
        <p:spPr>
          <a:xfrm>
            <a:off x="5959136" y="3999391"/>
            <a:ext cx="609452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i-FI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onClick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setShowAll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(!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showAll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show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showAll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? 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i-FI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important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i-FI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all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i-FI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button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      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i-FI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notesToShow.map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fi-FI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Note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i-FI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key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note.id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i-FI" sz="1200" b="0" dirty="0" err="1">
                <a:solidFill>
                  <a:srgbClr val="E50000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fi-FI" sz="1200" b="0" dirty="0" err="1">
                <a:solidFill>
                  <a:srgbClr val="E5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toggleImportance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</a:t>
            </a:r>
            <a:r>
              <a:rPr lang="fi-FI" sz="12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{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 </a:t>
            </a:r>
            <a:r>
              <a:rPr lang="fi-FI" sz="12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toggleImportanceOf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(note.id)</a:t>
            </a:r>
            <a:r>
              <a:rPr lang="fi-FI" sz="12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  <a:endParaRPr lang="fi-FI" sz="12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)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</a:t>
            </a:r>
            <a:r>
              <a:rPr lang="fi-FI" sz="1200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ul</a:t>
            </a:r>
            <a:r>
              <a:rPr lang="fi-FI" sz="12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&gt;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7625788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83C1B-ADA6-B5FF-4C6D-6C4365DCC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Tapahtumakäsittelijä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CBFCF3-1FDD-897F-17FB-60F718C907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080029" cy="4351338"/>
          </a:xfrm>
        </p:spPr>
        <p:txBody>
          <a:bodyPr>
            <a:normAutofit fontScale="92500" lnSpcReduction="10000"/>
          </a:bodyPr>
          <a:lstStyle/>
          <a:p>
            <a:r>
              <a:rPr lang="fi-FI" sz="2400" dirty="0"/>
              <a:t>Muuta vielä tapahtumankäsittelijää </a:t>
            </a:r>
            <a:r>
              <a:rPr lang="fi-FI" sz="2400" dirty="0" err="1"/>
              <a:t>toggleImportanceOf</a:t>
            </a:r>
            <a:endParaRPr lang="fi-FI" sz="2400" dirty="0"/>
          </a:p>
          <a:p>
            <a:r>
              <a:rPr lang="fi-FI" sz="2400" dirty="0"/>
              <a:t>Joka rivillä on uusia </a:t>
            </a:r>
            <a:r>
              <a:rPr lang="fi-FI" sz="2400" dirty="0" err="1"/>
              <a:t>asiota</a:t>
            </a:r>
            <a:endParaRPr lang="fi-FI" sz="2400" dirty="0"/>
          </a:p>
          <a:p>
            <a:pPr lvl="1"/>
            <a:r>
              <a:rPr lang="fi-FI" sz="2000" dirty="0"/>
              <a:t>Huomaa erilaiset </a:t>
            </a:r>
            <a:r>
              <a:rPr lang="fi-FI" sz="2000" dirty="0" err="1"/>
              <a:t>hipsut</a:t>
            </a:r>
            <a:r>
              <a:rPr lang="fi-FI" sz="2000" dirty="0"/>
              <a:t> </a:t>
            </a:r>
            <a:r>
              <a:rPr lang="fi-FI" sz="2000" dirty="0" err="1"/>
              <a:t>url</a:t>
            </a:r>
            <a:r>
              <a:rPr lang="fi-FI" sz="2000" dirty="0"/>
              <a:t>-lauseessa (</a:t>
            </a:r>
            <a:r>
              <a:rPr lang="fi-FI" sz="2000" dirty="0" err="1"/>
              <a:t>template</a:t>
            </a:r>
            <a:r>
              <a:rPr lang="fi-FI" sz="2000" dirty="0"/>
              <a:t> </a:t>
            </a:r>
            <a:r>
              <a:rPr lang="fi-FI" sz="2000" dirty="0" err="1"/>
              <a:t>string</a:t>
            </a:r>
            <a:r>
              <a:rPr lang="fi-FI" sz="2000"/>
              <a:t>)</a:t>
            </a:r>
            <a:endParaRPr lang="fi-FI" sz="2000" dirty="0"/>
          </a:p>
          <a:p>
            <a:pPr lvl="1"/>
            <a:r>
              <a:rPr lang="fi-FI" sz="2000" dirty="0" err="1"/>
              <a:t>find</a:t>
            </a:r>
            <a:r>
              <a:rPr lang="fi-FI" sz="2000" dirty="0"/>
              <a:t>!</a:t>
            </a:r>
          </a:p>
          <a:p>
            <a:pPr lvl="1"/>
            <a:r>
              <a:rPr lang="fi-FI" sz="2000" dirty="0"/>
              <a:t>Huomaa uuden olion tekeminen, jossa vain </a:t>
            </a:r>
            <a:r>
              <a:rPr lang="fi-FI" sz="2000" dirty="0" err="1"/>
              <a:t>important</a:t>
            </a:r>
            <a:r>
              <a:rPr lang="fi-FI" sz="2000" dirty="0"/>
              <a:t> muuttuu</a:t>
            </a:r>
          </a:p>
          <a:p>
            <a:pPr lvl="1"/>
            <a:r>
              <a:rPr lang="fi-FI" sz="2000" dirty="0"/>
              <a:t>Takaisinkutsufunktiossa asetetaan komponentin </a:t>
            </a:r>
            <a:r>
              <a:rPr lang="fi-FI" sz="2000" dirty="0" err="1"/>
              <a:t>App</a:t>
            </a:r>
            <a:r>
              <a:rPr lang="fi-FI" sz="2000" dirty="0"/>
              <a:t> tilaan </a:t>
            </a:r>
            <a:r>
              <a:rPr lang="fi-FI" sz="2000" dirty="0" err="1"/>
              <a:t>notes</a:t>
            </a:r>
            <a:r>
              <a:rPr lang="fi-FI" sz="2000" dirty="0"/>
              <a:t> kaikki vanhat muistiinpanot paitsi muuttunut, josta tilaan asetetaan palvelimen palauttama versio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2CD769E-6440-7331-BCF5-6B1CE647F0A0}"/>
              </a:ext>
            </a:extLst>
          </p:cNvPr>
          <p:cNvSpPr txBox="1"/>
          <p:nvPr/>
        </p:nvSpPr>
        <p:spPr>
          <a:xfrm>
            <a:off x="5186777" y="1949913"/>
            <a:ext cx="6682667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()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notes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setNotes] =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([])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newNote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setNewNote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''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showAll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setShowAll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toggleImportanceOf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id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`http://localhost:3001/</a:t>
            </a:r>
            <a:r>
              <a:rPr lang="fi-FI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notes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notes.find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n.id === id)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changedNote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 ...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important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!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note.important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axios.put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url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changedNote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setNotes(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notes.map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note.id !== id ?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response.data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7D61824-C06D-31F2-6633-C0E68DBF4996}"/>
              </a:ext>
            </a:extLst>
          </p:cNvPr>
          <p:cNvSpPr txBox="1"/>
          <p:nvPr/>
        </p:nvSpPr>
        <p:spPr>
          <a:xfrm>
            <a:off x="5480850" y="4853524"/>
            <a:ext cx="609452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600" dirty="0" err="1"/>
              <a:t>Map</a:t>
            </a:r>
            <a:r>
              <a:rPr lang="fi-FI" sz="1600" dirty="0"/>
              <a:t>-operaatio siis luo uuden taulukon vanhan taulukon perusteella. Jokainen uuden taulukon alkio luodaan ehdollisesti siten, että jos ehto note.id !== id on tosi, otetaan uuteen taulukkoon suoraan vanhan taulukon kyseinen alkio. Jos ehto on epätosi eli kyseessä on muutettu muistiinpano, otetaan uuteen taulukkoon palvelimen palauttama olio.</a:t>
            </a:r>
          </a:p>
        </p:txBody>
      </p:sp>
    </p:spTree>
    <p:extLst>
      <p:ext uri="{BB962C8B-B14F-4D97-AF65-F5344CB8AC3E}">
        <p14:creationId xmlns:p14="http://schemas.microsoft.com/office/powerpoint/2010/main" val="405518701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762AE-E006-8835-3755-80A30787FF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fi-FI" dirty="0"/>
              <a:t>Palvelimen kanssa tapahtuvan kommunikoinnin eristäminen omaan moduuliin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AF036E-E761-5DF0-FDF0-2AD0F44AF84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i-FI"/>
          </a:p>
        </p:txBody>
      </p:sp>
    </p:spTree>
    <p:extLst>
      <p:ext uri="{BB962C8B-B14F-4D97-AF65-F5344CB8AC3E}">
        <p14:creationId xmlns:p14="http://schemas.microsoft.com/office/powerpoint/2010/main" val="255917812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7B34D4-9EE2-E89A-C241-F8A682A27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Palvelinkommunikointi omaan moduuliin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4BCAFA-2054-E059-0A2A-B380B45CBE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317901" cy="4351338"/>
          </a:xfrm>
        </p:spPr>
        <p:txBody>
          <a:bodyPr>
            <a:normAutofit/>
          </a:bodyPr>
          <a:lstStyle/>
          <a:p>
            <a:r>
              <a:rPr lang="fi-FI" dirty="0"/>
              <a:t>Laitetaan palvelinkommunikointi omaan moduuliin</a:t>
            </a:r>
          </a:p>
          <a:p>
            <a:r>
              <a:rPr lang="fi-FI" dirty="0"/>
              <a:t>Tee hakemisto </a:t>
            </a:r>
            <a:r>
              <a:rPr lang="fi-FI" b="0" i="1" dirty="0" err="1">
                <a:solidFill>
                  <a:srgbClr val="33332D"/>
                </a:solidFill>
                <a:effectLst/>
              </a:rPr>
              <a:t>src</a:t>
            </a:r>
            <a:r>
              <a:rPr lang="fi-FI" b="0" i="1" dirty="0">
                <a:solidFill>
                  <a:srgbClr val="33332D"/>
                </a:solidFill>
                <a:effectLst/>
              </a:rPr>
              <a:t>/</a:t>
            </a:r>
            <a:r>
              <a:rPr lang="fi-FI" b="0" i="1" dirty="0" err="1">
                <a:solidFill>
                  <a:srgbClr val="33332D"/>
                </a:solidFill>
                <a:effectLst/>
              </a:rPr>
              <a:t>services</a:t>
            </a:r>
            <a:r>
              <a:rPr lang="fi-FI" b="0" i="1" dirty="0">
                <a:solidFill>
                  <a:srgbClr val="33332D"/>
                </a:solidFill>
                <a:effectLst/>
              </a:rPr>
              <a:t> </a:t>
            </a:r>
            <a:r>
              <a:rPr lang="fi-FI" b="0" i="0" dirty="0">
                <a:solidFill>
                  <a:srgbClr val="33332D"/>
                </a:solidFill>
                <a:effectLst/>
              </a:rPr>
              <a:t>ja lisää sinne tiedosto </a:t>
            </a:r>
            <a:r>
              <a:rPr lang="fi-FI" b="0" i="1" dirty="0">
                <a:solidFill>
                  <a:srgbClr val="33332D"/>
                </a:solidFill>
                <a:effectLst/>
              </a:rPr>
              <a:t>notes.js</a:t>
            </a:r>
            <a:r>
              <a:rPr lang="fi-FI" dirty="0">
                <a:solidFill>
                  <a:srgbClr val="33332D"/>
                </a:solidFill>
              </a:rPr>
              <a:t>.</a:t>
            </a:r>
          </a:p>
          <a:p>
            <a:r>
              <a:rPr lang="fi-FI" dirty="0"/>
              <a:t>Moduuli palauttaa olion, jonka kenttinä on funktiot </a:t>
            </a:r>
            <a:r>
              <a:rPr lang="fi-FI" dirty="0" err="1"/>
              <a:t>getAll</a:t>
            </a:r>
            <a:r>
              <a:rPr lang="fi-FI" dirty="0"/>
              <a:t>, </a:t>
            </a:r>
            <a:r>
              <a:rPr lang="fi-FI" dirty="0" err="1"/>
              <a:t>create</a:t>
            </a:r>
            <a:r>
              <a:rPr lang="fi-FI" dirty="0"/>
              <a:t> ja </a:t>
            </a:r>
            <a:r>
              <a:rPr lang="fi-FI" dirty="0" err="1"/>
              <a:t>update</a:t>
            </a:r>
            <a:r>
              <a:rPr lang="fi-FI" dirty="0"/>
              <a:t>.</a:t>
            </a:r>
          </a:p>
          <a:p>
            <a:r>
              <a:rPr lang="fi-FI" dirty="0"/>
              <a:t>Funktiot palauttavat </a:t>
            </a:r>
            <a:r>
              <a:rPr lang="fi-FI" dirty="0" err="1"/>
              <a:t>Axiosin</a:t>
            </a:r>
            <a:r>
              <a:rPr lang="fi-FI" dirty="0"/>
              <a:t> metodien palauttaman </a:t>
            </a:r>
            <a:r>
              <a:rPr lang="fi-FI" dirty="0" err="1"/>
              <a:t>promisen</a:t>
            </a:r>
            <a:r>
              <a:rPr lang="fi-FI"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1C45639-74DB-55D9-CDDF-78E77ADFB633}"/>
              </a:ext>
            </a:extLst>
          </p:cNvPr>
          <p:cNvSpPr txBox="1"/>
          <p:nvPr/>
        </p:nvSpPr>
        <p:spPr>
          <a:xfrm>
            <a:off x="6832241" y="1825625"/>
            <a:ext cx="4699179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axios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i-FI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axios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baseUrl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'http://localhost:3001/</a:t>
            </a:r>
            <a:r>
              <a:rPr lang="fi-FI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notes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getAll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()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axios.get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baseUrl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newObject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axios.post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baseUrl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newObject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update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(id,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newObject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axios.put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baseUrl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newObject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getAll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getAll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update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update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28921063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A248B-7A2B-A3E9-7C64-380681283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Lyhyempi tapa olioliteraalien määrittelyyn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3D9BF3-44E7-6DE8-AF82-BCB9CD351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3813" y="1690688"/>
            <a:ext cx="5079642" cy="2160095"/>
          </a:xfrm>
        </p:spPr>
        <p:txBody>
          <a:bodyPr/>
          <a:lstStyle/>
          <a:p>
            <a:r>
              <a:rPr lang="fi-FI" dirty="0"/>
              <a:t>Kun olion kenttien nimet ovat samat kuin muuttujien nimet, voidaan olion määrittely kirjoittaa tiiviimmässä muodossa: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072177-C6B6-FD77-C4FC-3644C6450F61}"/>
              </a:ext>
            </a:extLst>
          </p:cNvPr>
          <p:cNvSpPr txBox="1"/>
          <p:nvPr/>
        </p:nvSpPr>
        <p:spPr>
          <a:xfrm>
            <a:off x="6228546" y="1890815"/>
            <a:ext cx="512525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axios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i-FI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axios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baseUrl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'http://localhost:3001/</a:t>
            </a:r>
            <a:r>
              <a:rPr lang="fi-FI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notes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getAll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()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axios.get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baseUrl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request.then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response.data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newObject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axios.post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baseUrl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newObject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request.then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response.data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update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(id,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newObject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axios.put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baseUrl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newObject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request.then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response.data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2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export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default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{ 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getAll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create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, 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update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}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F42D893-C28F-08BD-7D2D-93C0FEF6C9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813" y="3727952"/>
            <a:ext cx="1606633" cy="1308167"/>
          </a:xfrm>
          <a:prstGeom prst="rect">
            <a:avLst/>
          </a:prstGeom>
        </p:spPr>
      </p:pic>
      <p:sp>
        <p:nvSpPr>
          <p:cNvPr id="8" name="Arrow: Right 7">
            <a:extLst>
              <a:ext uri="{FF2B5EF4-FFF2-40B4-BE49-F238E27FC236}">
                <a16:creationId xmlns:a16="http://schemas.microsoft.com/office/drawing/2014/main" id="{F81AD9B9-EE9A-783D-CA6C-7E2228A717FB}"/>
              </a:ext>
            </a:extLst>
          </p:cNvPr>
          <p:cNvSpPr/>
          <p:nvPr/>
        </p:nvSpPr>
        <p:spPr>
          <a:xfrm>
            <a:off x="2984469" y="4235149"/>
            <a:ext cx="392806" cy="367048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i-FI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51DAFD0-7712-7FEC-EC3A-676A329D67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6223" y="3783641"/>
            <a:ext cx="1041454" cy="12700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08A46BF-B6EC-8E40-FE31-9D0178B127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5583231"/>
            <a:ext cx="1822544" cy="60963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EF4845D-5599-0CAC-B5B9-3B5DDB5F084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8200" y="6192862"/>
            <a:ext cx="2432175" cy="393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141228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B99B9D-4C76-70AE-0CE1-A2400345C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Then</a:t>
            </a:r>
            <a:r>
              <a:rPr lang="fi-FI" dirty="0"/>
              <a:t> palauttaa </a:t>
            </a:r>
            <a:r>
              <a:rPr lang="fi-FI" dirty="0" err="1"/>
              <a:t>promisen</a:t>
            </a:r>
            <a:endParaRPr lang="fi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0865B2-78E7-7815-3F64-4D9B3D0AD4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11839" cy="4351338"/>
          </a:xfrm>
        </p:spPr>
        <p:txBody>
          <a:bodyPr/>
          <a:lstStyle/>
          <a:p>
            <a:r>
              <a:rPr lang="fi-FI" dirty="0"/>
              <a:t>Enää ei palautetakaan suoraan </a:t>
            </a:r>
            <a:r>
              <a:rPr lang="fi-FI" dirty="0" err="1"/>
              <a:t>Axiosin</a:t>
            </a:r>
            <a:r>
              <a:rPr lang="fi-FI" dirty="0"/>
              <a:t> palauttamaa </a:t>
            </a:r>
            <a:r>
              <a:rPr lang="fi-FI" dirty="0" err="1"/>
              <a:t>promisea</a:t>
            </a:r>
            <a:r>
              <a:rPr lang="fi-FI" dirty="0"/>
              <a:t>, vaan otetaan </a:t>
            </a:r>
            <a:r>
              <a:rPr lang="fi-FI" dirty="0" err="1"/>
              <a:t>promise</a:t>
            </a:r>
            <a:r>
              <a:rPr lang="fi-FI" dirty="0"/>
              <a:t> ensin muuttujaan </a:t>
            </a:r>
            <a:r>
              <a:rPr lang="fi-FI" dirty="0" err="1"/>
              <a:t>request</a:t>
            </a:r>
            <a:r>
              <a:rPr lang="fi-FI" dirty="0"/>
              <a:t> ja kutsutaan sille metodia </a:t>
            </a:r>
            <a:r>
              <a:rPr lang="fi-FI" dirty="0" err="1"/>
              <a:t>then</a:t>
            </a:r>
            <a:r>
              <a:rPr lang="fi-FI" dirty="0"/>
              <a:t>.</a:t>
            </a:r>
          </a:p>
          <a:p>
            <a:r>
              <a:rPr lang="fi-FI" dirty="0"/>
              <a:t>Nytkin funktio </a:t>
            </a:r>
            <a:r>
              <a:rPr lang="fi-FI" dirty="0" err="1"/>
              <a:t>getAll</a:t>
            </a:r>
            <a:r>
              <a:rPr lang="fi-FI" dirty="0"/>
              <a:t> palauttaa </a:t>
            </a:r>
            <a:r>
              <a:rPr lang="fi-FI" dirty="0" err="1"/>
              <a:t>promisen</a:t>
            </a:r>
            <a:r>
              <a:rPr lang="fi-FI" dirty="0"/>
              <a:t>, sillä </a:t>
            </a:r>
            <a:r>
              <a:rPr lang="fi-FI" dirty="0" err="1"/>
              <a:t>promisen</a:t>
            </a:r>
            <a:r>
              <a:rPr lang="fi-FI" dirty="0"/>
              <a:t> metodi </a:t>
            </a:r>
            <a:r>
              <a:rPr lang="fi-FI" dirty="0" err="1"/>
              <a:t>then</a:t>
            </a:r>
            <a:r>
              <a:rPr lang="fi-FI" dirty="0"/>
              <a:t> palauttaa </a:t>
            </a:r>
            <a:r>
              <a:rPr lang="fi-FI" dirty="0" err="1"/>
              <a:t>promisen</a:t>
            </a:r>
            <a:r>
              <a:rPr lang="fi-FI" dirty="0"/>
              <a:t>.</a:t>
            </a:r>
          </a:p>
          <a:p>
            <a:endParaRPr lang="fi-FI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DB267C9-E706-B690-748B-35AF0F5EFE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4302" y="1825625"/>
            <a:ext cx="5022766" cy="13255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C96FFB4-635E-CE99-2071-109B9B45C6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301" y="4219221"/>
            <a:ext cx="4267309" cy="18797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740E67C-42F6-6F70-16AE-C6883BC7EFDC}"/>
              </a:ext>
            </a:extLst>
          </p:cNvPr>
          <p:cNvSpPr txBox="1"/>
          <p:nvPr/>
        </p:nvSpPr>
        <p:spPr>
          <a:xfrm>
            <a:off x="6414302" y="3816628"/>
            <a:ext cx="16259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i-FI" dirty="0"/>
              <a:t>Pidempi versio:</a:t>
            </a:r>
          </a:p>
        </p:txBody>
      </p:sp>
    </p:spTree>
    <p:extLst>
      <p:ext uri="{BB962C8B-B14F-4D97-AF65-F5344CB8AC3E}">
        <p14:creationId xmlns:p14="http://schemas.microsoft.com/office/powerpoint/2010/main" val="195758621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152F54-76F0-D612-252B-0093EC1CA9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7151"/>
          </a:xfrm>
        </p:spPr>
        <p:txBody>
          <a:bodyPr>
            <a:normAutofit fontScale="90000"/>
          </a:bodyPr>
          <a:lstStyle/>
          <a:p>
            <a:r>
              <a:rPr lang="fi-FI" dirty="0"/>
              <a:t>Muutokset </a:t>
            </a:r>
            <a:r>
              <a:rPr lang="fi-FI" dirty="0" err="1"/>
              <a:t>App</a:t>
            </a:r>
            <a:r>
              <a:rPr lang="fi-FI" dirty="0"/>
              <a:t>-komponenttiin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89C29-FE82-37C6-EB41-69CD9C3978BC}"/>
              </a:ext>
            </a:extLst>
          </p:cNvPr>
          <p:cNvSpPr txBox="1"/>
          <p:nvPr/>
        </p:nvSpPr>
        <p:spPr>
          <a:xfrm>
            <a:off x="838199" y="1041023"/>
            <a:ext cx="6354651" cy="58169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useEffect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i-FI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react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'./</a:t>
            </a:r>
            <a:r>
              <a:rPr lang="fi-FI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components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fi-FI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import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noteService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from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'./</a:t>
            </a:r>
            <a:r>
              <a:rPr lang="fi-FI" sz="12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services</a:t>
            </a:r>
            <a:r>
              <a:rPr lang="fi-FI" sz="12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/</a:t>
            </a:r>
            <a:r>
              <a:rPr lang="fi-FI" sz="12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notes</a:t>
            </a:r>
            <a:r>
              <a:rPr lang="fi-FI" sz="12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'</a:t>
            </a:r>
            <a:endParaRPr lang="fi-FI" sz="12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axios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i-FI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axios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b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App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()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notes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setNotes] =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([])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newNote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setNewNote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'a </a:t>
            </a:r>
            <a:r>
              <a:rPr lang="fi-FI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new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...'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 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[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showAll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setShowAll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 =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useState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b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toggleImportanceOf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id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notes.find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n.id === id)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changedNote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 ...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important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!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note.important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b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noteService</a:t>
            </a:r>
            <a:endParaRPr lang="fi-FI" sz="12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.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update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(id, 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changedNote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.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then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returnedNote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setNotes(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notes.map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note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note.id !== id ? 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note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: 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returnedNote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})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    </a:t>
            </a:r>
          </a:p>
          <a:p>
            <a:b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useEffect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(() </a:t>
            </a:r>
            <a:r>
              <a:rPr lang="fi-FI" sz="12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noteService</a:t>
            </a:r>
            <a:endParaRPr lang="fi-FI" sz="12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.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getAll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.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then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initialNotes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setNotes(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initialNotes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})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}, [])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21E761-FB92-876A-FEAA-E408C096E706}"/>
              </a:ext>
            </a:extLst>
          </p:cNvPr>
          <p:cNvSpPr txBox="1"/>
          <p:nvPr/>
        </p:nvSpPr>
        <p:spPr>
          <a:xfrm>
            <a:off x="7123628" y="937933"/>
            <a:ext cx="4847285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console.log(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i-FI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render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notes.length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i-FI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notes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notesToShow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showAll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?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notes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: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notes.filter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note.important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===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b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addNote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event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event.preventDefault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noteObject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newNote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important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Math.random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 &gt; </a:t>
            </a:r>
            <a:r>
              <a:rPr lang="fi-FI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0.5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b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noteService</a:t>
            </a:r>
            <a:endParaRPr lang="fi-FI" sz="12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.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create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noteObject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.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then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returnedNote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setNotes(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notes.concat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returnedNote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setNewNote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fi-FI" sz="12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''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})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</p:txBody>
      </p:sp>
    </p:spTree>
    <p:extLst>
      <p:ext uri="{BB962C8B-B14F-4D97-AF65-F5344CB8AC3E}">
        <p14:creationId xmlns:p14="http://schemas.microsoft.com/office/powerpoint/2010/main" val="291639904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74B927-B083-6E6B-1624-EAD891735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Muutokset </a:t>
            </a:r>
            <a:r>
              <a:rPr lang="fi-FI" dirty="0" err="1"/>
              <a:t>App</a:t>
            </a:r>
            <a:r>
              <a:rPr lang="fi-FI" dirty="0"/>
              <a:t>-komponenttiin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32B9F0-40D4-7B45-3DFE-00DC1F50C9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i="1" dirty="0"/>
              <a:t>” Tämä kaikki on hieman monimutkaista, ja asian selittäminen varmaan vain vaikeuttaa sen ymmärtämistä.”</a:t>
            </a:r>
          </a:p>
        </p:txBody>
      </p:sp>
    </p:spTree>
    <p:extLst>
      <p:ext uri="{BB962C8B-B14F-4D97-AF65-F5344CB8AC3E}">
        <p14:creationId xmlns:p14="http://schemas.microsoft.com/office/powerpoint/2010/main" val="352931473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CA459-1484-8999-E2EA-FF96CABA0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Promise</a:t>
            </a:r>
            <a:r>
              <a:rPr lang="fi-FI" dirty="0"/>
              <a:t> ja virheet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21C640-2230-B70C-F697-66CE5EFAC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72070" cy="4351338"/>
          </a:xfrm>
        </p:spPr>
        <p:txBody>
          <a:bodyPr>
            <a:normAutofit fontScale="85000" lnSpcReduction="20000"/>
          </a:bodyPr>
          <a:lstStyle/>
          <a:p>
            <a:r>
              <a:rPr lang="fi-FI" dirty="0" err="1"/>
              <a:t>Kovakoodataan</a:t>
            </a:r>
            <a:r>
              <a:rPr lang="fi-FI" dirty="0"/>
              <a:t> </a:t>
            </a:r>
            <a:r>
              <a:rPr lang="fi-FI" dirty="0" err="1"/>
              <a:t>noteServiceen</a:t>
            </a:r>
            <a:r>
              <a:rPr lang="fi-FI" dirty="0"/>
              <a:t> funktioon </a:t>
            </a:r>
            <a:r>
              <a:rPr lang="fi-FI" dirty="0" err="1"/>
              <a:t>getAll</a:t>
            </a:r>
            <a:r>
              <a:rPr lang="fi-FI" dirty="0"/>
              <a:t> muistiinpano, jota ei ole oikeasti olemassa palvelimella.</a:t>
            </a:r>
          </a:p>
          <a:p>
            <a:r>
              <a:rPr lang="fi-FI" dirty="0"/>
              <a:t>Kun valemuistiinpanon tärkeyttä yritetään muuttaa, tulee virheilmoitus 404 </a:t>
            </a:r>
            <a:r>
              <a:rPr lang="fi-FI" dirty="0" err="1"/>
              <a:t>not</a:t>
            </a:r>
            <a:r>
              <a:rPr lang="fi-FI" dirty="0"/>
              <a:t> </a:t>
            </a:r>
            <a:r>
              <a:rPr lang="fi-FI" dirty="0" err="1"/>
              <a:t>found</a:t>
            </a:r>
            <a:r>
              <a:rPr lang="fi-FI" dirty="0"/>
              <a:t>.</a:t>
            </a:r>
          </a:p>
          <a:p>
            <a:r>
              <a:rPr lang="fi-FI" dirty="0"/>
              <a:t>Sovelluksen tulisi pystyä käsittelemään tilanne hallitusti.</a:t>
            </a:r>
          </a:p>
          <a:p>
            <a:r>
              <a:rPr lang="fi-FI" dirty="0"/>
              <a:t>Kun HTTP-pyyntö epäonnistuu, menee pyyntöä vastaava </a:t>
            </a:r>
            <a:r>
              <a:rPr lang="fi-FI" dirty="0" err="1"/>
              <a:t>promise</a:t>
            </a:r>
            <a:r>
              <a:rPr lang="fi-FI" dirty="0"/>
              <a:t> tilaan </a:t>
            </a:r>
            <a:r>
              <a:rPr lang="fi-FI" dirty="0" err="1"/>
              <a:t>rejected</a:t>
            </a:r>
            <a:r>
              <a:rPr lang="fi-FI" dirty="0"/>
              <a:t>.</a:t>
            </a:r>
          </a:p>
          <a:p>
            <a:r>
              <a:rPr lang="fi-FI" dirty="0"/>
              <a:t>Virhetilanne voidaan käsitellä liittämällä </a:t>
            </a:r>
            <a:r>
              <a:rPr lang="fi-FI" dirty="0" err="1"/>
              <a:t>promiseen</a:t>
            </a:r>
            <a:r>
              <a:rPr lang="fi-FI" dirty="0"/>
              <a:t> epäonnistumistilanteen käsittelijä kutsumalla metodia </a:t>
            </a:r>
            <a:r>
              <a:rPr lang="fi-FI" dirty="0" err="1"/>
              <a:t>catch</a:t>
            </a:r>
            <a:r>
              <a:rPr lang="fi-FI" dirty="0"/>
              <a:t>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849F1D-AFAF-09E7-3360-74A3E5B031D5}"/>
              </a:ext>
            </a:extLst>
          </p:cNvPr>
          <p:cNvSpPr txBox="1"/>
          <p:nvPr/>
        </p:nvSpPr>
        <p:spPr>
          <a:xfrm>
            <a:off x="6685746" y="1690688"/>
            <a:ext cx="4480237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getAll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()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axios.get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baseUrl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nonExisting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id: </a:t>
            </a:r>
            <a:r>
              <a:rPr lang="fi-FI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10000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i-FI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is </a:t>
            </a:r>
            <a:r>
              <a:rPr lang="fi-FI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saved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to </a:t>
            </a:r>
            <a:r>
              <a:rPr lang="fi-FI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important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request.then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endParaRPr lang="fi-FI" sz="12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fi-FI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response.data.concat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nonExisting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61E8AA1-8431-34E9-D862-19C390A227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8578" y="3877005"/>
            <a:ext cx="4334572" cy="21567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02779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642F-CCD9-F69B-4592-4F103DAA87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 err="1"/>
              <a:t>Promise</a:t>
            </a:r>
            <a:r>
              <a:rPr lang="fi-FI" dirty="0"/>
              <a:t> ja virheet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9B78B-DDE6-55FC-94B8-209664579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223197" cy="4351338"/>
          </a:xfrm>
        </p:spPr>
        <p:txBody>
          <a:bodyPr/>
          <a:lstStyle/>
          <a:p>
            <a:r>
              <a:rPr lang="fi-FI" dirty="0"/>
              <a:t>Käsitellään virhe</a:t>
            </a:r>
          </a:p>
          <a:p>
            <a:r>
              <a:rPr lang="fi-FI" dirty="0"/>
              <a:t>Käytetään toistaiseksi </a:t>
            </a:r>
            <a:r>
              <a:rPr lang="fi-FI" dirty="0" err="1"/>
              <a:t>alert</a:t>
            </a:r>
            <a:r>
              <a:rPr lang="fi-FI" dirty="0"/>
              <a:t>-funktiota</a:t>
            </a:r>
          </a:p>
          <a:p>
            <a:r>
              <a:rPr lang="fi-FI" dirty="0"/>
              <a:t>Poistetaan olematon muistiinpano metodilla </a:t>
            </a:r>
            <a:r>
              <a:rPr lang="fi-FI" dirty="0" err="1"/>
              <a:t>filter</a:t>
            </a:r>
            <a:endParaRPr lang="fi-FI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95D639-AC4E-7482-E5E4-6C2DCEEA89B2}"/>
              </a:ext>
            </a:extLst>
          </p:cNvPr>
          <p:cNvSpPr txBox="1"/>
          <p:nvPr/>
        </p:nvSpPr>
        <p:spPr>
          <a:xfrm>
            <a:off x="5327024" y="1997324"/>
            <a:ext cx="6624569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toggleImportanceOf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id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notes.find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(n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n.id === id)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changedNote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 ...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important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!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note.important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noteService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.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update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(id,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changedNote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).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then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returnedNote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  setNotes(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notes.map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note.id !== id ?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: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returnedNote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})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.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catch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error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{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alert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  </a:t>
            </a:r>
            <a:r>
              <a:rPr lang="fi-FI" sz="12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`</a:t>
            </a:r>
            <a:r>
              <a:rPr lang="fi-FI" sz="12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the</a:t>
            </a:r>
            <a:r>
              <a:rPr lang="fi-FI" sz="12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note</a:t>
            </a:r>
            <a:r>
              <a:rPr lang="fi-FI" sz="12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'</a:t>
            </a:r>
            <a:r>
              <a:rPr lang="fi-FI" sz="12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${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note.content</a:t>
            </a:r>
            <a:r>
              <a:rPr lang="fi-FI" sz="12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}</a:t>
            </a:r>
            <a:r>
              <a:rPr lang="fi-FI" sz="12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' </a:t>
            </a:r>
            <a:r>
              <a:rPr lang="fi-FI" sz="12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was</a:t>
            </a:r>
            <a:r>
              <a:rPr lang="fi-FI" sz="12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already</a:t>
            </a:r>
            <a:r>
              <a:rPr lang="fi-FI" sz="12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deleted</a:t>
            </a:r>
            <a:r>
              <a:rPr lang="fi-FI" sz="12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from</a:t>
            </a:r>
            <a:r>
              <a:rPr lang="fi-FI" sz="12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server</a:t>
            </a:r>
            <a:r>
              <a:rPr lang="fi-FI" sz="12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`</a:t>
            </a:r>
            <a:endParaRPr lang="fi-FI" sz="12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  setNotes(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notes.filter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(n </a:t>
            </a:r>
            <a:r>
              <a:rPr lang="fi-FI" sz="1200" b="0" dirty="0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n.id !== id))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      })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</p:txBody>
      </p:sp>
    </p:spTree>
    <p:extLst>
      <p:ext uri="{BB962C8B-B14F-4D97-AF65-F5344CB8AC3E}">
        <p14:creationId xmlns:p14="http://schemas.microsoft.com/office/powerpoint/2010/main" val="358838303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78FC8-AF7B-E675-42BE-5B51FEC7D12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i-FI" dirty="0"/>
              <a:t>Node.js ja Express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AAE78A-E85B-F7C2-D041-D6EFA53117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i-FI" dirty="0"/>
              <a:t>Osa 3</a:t>
            </a:r>
          </a:p>
        </p:txBody>
      </p:sp>
    </p:spTree>
    <p:extLst>
      <p:ext uri="{BB962C8B-B14F-4D97-AF65-F5344CB8AC3E}">
        <p14:creationId xmlns:p14="http://schemas.microsoft.com/office/powerpoint/2010/main" val="50017921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50882-D042-9DB8-D1A8-81BA4CC5A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Node.js ja Express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7D67B-5B8E-C2BB-7AC7-5395D7351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242050" cy="4351338"/>
          </a:xfrm>
        </p:spPr>
        <p:txBody>
          <a:bodyPr>
            <a:normAutofit/>
          </a:bodyPr>
          <a:lstStyle/>
          <a:p>
            <a:r>
              <a:rPr lang="fi-FI" sz="2400" dirty="0"/>
              <a:t>Tehdään palvelinsovellus (</a:t>
            </a:r>
            <a:r>
              <a:rPr lang="fi-FI" sz="2400" dirty="0" err="1"/>
              <a:t>backend</a:t>
            </a:r>
            <a:r>
              <a:rPr lang="fi-FI" sz="2400" dirty="0"/>
              <a:t>) </a:t>
            </a:r>
            <a:r>
              <a:rPr lang="fi-FI" sz="2400" dirty="0" err="1"/>
              <a:t>Node.js:n</a:t>
            </a:r>
            <a:r>
              <a:rPr lang="fi-FI" sz="2400" dirty="0"/>
              <a:t> Express-kirjastolla</a:t>
            </a:r>
          </a:p>
          <a:p>
            <a:r>
              <a:rPr lang="fi-FI" sz="2400" dirty="0"/>
              <a:t>Tavoitteena on tehdä osan 2 muistiinpanosovellukseen sopiva </a:t>
            </a:r>
            <a:r>
              <a:rPr lang="fi-FI" sz="2400" dirty="0" err="1"/>
              <a:t>backend</a:t>
            </a:r>
            <a:endParaRPr lang="fi-FI" sz="2400" dirty="0"/>
          </a:p>
          <a:p>
            <a:r>
              <a:rPr lang="fi-FI" sz="2400" dirty="0"/>
              <a:t>Mene sopivaan hakemistoon ja tee projektiin runko komennolla</a:t>
            </a:r>
          </a:p>
          <a:p>
            <a:pPr lvl="1"/>
            <a:r>
              <a:rPr lang="fi-FI" sz="2000" b="1" dirty="0" err="1"/>
              <a:t>npm</a:t>
            </a:r>
            <a:r>
              <a:rPr lang="fi-FI" sz="2000" b="1" dirty="0"/>
              <a:t> </a:t>
            </a:r>
            <a:r>
              <a:rPr lang="fi-FI" sz="2000" b="1" dirty="0" err="1"/>
              <a:t>init</a:t>
            </a:r>
            <a:r>
              <a:rPr lang="fi-FI" sz="2000" dirty="0"/>
              <a:t>. </a:t>
            </a:r>
          </a:p>
          <a:p>
            <a:r>
              <a:rPr lang="fi-FI" sz="2400" dirty="0"/>
              <a:t>Vastaile kysymyksiin. Syntyy tiedosto </a:t>
            </a:r>
            <a:r>
              <a:rPr lang="fi-FI" sz="2400" dirty="0" err="1"/>
              <a:t>package.json</a:t>
            </a:r>
            <a:endParaRPr lang="fi-FI" sz="2400" dirty="0"/>
          </a:p>
          <a:p>
            <a:r>
              <a:rPr lang="fi-FI" sz="2400" dirty="0"/>
              <a:t>Lisää </a:t>
            </a:r>
            <a:r>
              <a:rPr lang="fi-FI" sz="2400" dirty="0" err="1"/>
              <a:t>package.json</a:t>
            </a:r>
            <a:r>
              <a:rPr lang="fi-FI" sz="2400" dirty="0"/>
              <a:t> kenttään </a:t>
            </a:r>
            <a:r>
              <a:rPr lang="fi-FI" sz="2400" dirty="0" err="1"/>
              <a:t>scripts</a:t>
            </a:r>
            <a:endParaRPr lang="fi-FI" sz="2400" dirty="0"/>
          </a:p>
          <a:p>
            <a:pPr lvl="1"/>
            <a:r>
              <a:rPr lang="fi-FI" sz="2000" dirty="0"/>
              <a:t>"</a:t>
            </a:r>
            <a:r>
              <a:rPr lang="fi-FI" sz="2000" dirty="0" err="1"/>
              <a:t>start</a:t>
            </a:r>
            <a:r>
              <a:rPr lang="fi-FI" sz="2000" dirty="0"/>
              <a:t>": "</a:t>
            </a:r>
            <a:r>
              <a:rPr lang="fi-FI" sz="2000" dirty="0" err="1"/>
              <a:t>node</a:t>
            </a:r>
            <a:r>
              <a:rPr lang="fi-FI" sz="2000" dirty="0"/>
              <a:t> index.js",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B23440-5CB7-BF99-4FE0-53CBE710A6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325" y="1932224"/>
            <a:ext cx="4677609" cy="1896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16810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FE38B7-8A11-70A0-D239-0F75D852A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Node.js </a:t>
            </a:r>
            <a:r>
              <a:rPr lang="fi-FI" dirty="0" err="1"/>
              <a:t>hello</a:t>
            </a:r>
            <a:r>
              <a:rPr lang="fi-FI" dirty="0"/>
              <a:t> </a:t>
            </a:r>
            <a:r>
              <a:rPr lang="fi-FI" dirty="0" err="1"/>
              <a:t>world</a:t>
            </a:r>
            <a:endParaRPr lang="fi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F12FE0-6C8E-3698-D04B-2D9DB51D19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i-FI" dirty="0"/>
              <a:t>Tee projektin juureen tiedosto index.js </a:t>
            </a:r>
          </a:p>
          <a:p>
            <a:r>
              <a:rPr lang="fi-FI" dirty="0"/>
              <a:t>Lisää sinne rivi</a:t>
            </a:r>
          </a:p>
          <a:p>
            <a:pPr lvl="1"/>
            <a:r>
              <a:rPr lang="fi-FI" dirty="0"/>
              <a:t>console.log('</a:t>
            </a:r>
            <a:r>
              <a:rPr lang="fi-FI" dirty="0" err="1"/>
              <a:t>hello</a:t>
            </a:r>
            <a:r>
              <a:rPr lang="fi-FI" dirty="0"/>
              <a:t> </a:t>
            </a:r>
            <a:r>
              <a:rPr lang="fi-FI" dirty="0" err="1"/>
              <a:t>world</a:t>
            </a:r>
            <a:r>
              <a:rPr lang="fi-FI" dirty="0"/>
              <a:t>’)</a:t>
            </a:r>
          </a:p>
          <a:p>
            <a:r>
              <a:rPr lang="fi-FI" dirty="0"/>
              <a:t>Aja ohjelma </a:t>
            </a:r>
          </a:p>
          <a:p>
            <a:pPr lvl="1"/>
            <a:r>
              <a:rPr lang="fi-FI" dirty="0" err="1"/>
              <a:t>npm</a:t>
            </a:r>
            <a:r>
              <a:rPr lang="fi-FI" dirty="0"/>
              <a:t> </a:t>
            </a:r>
            <a:r>
              <a:rPr lang="fi-FI" dirty="0" err="1"/>
              <a:t>start</a:t>
            </a:r>
            <a:endParaRPr lang="fi-FI" dirty="0"/>
          </a:p>
          <a:p>
            <a:endParaRPr lang="fi-FI" dirty="0"/>
          </a:p>
          <a:p>
            <a:pPr lvl="1"/>
            <a:endParaRPr lang="fi-FI" dirty="0"/>
          </a:p>
        </p:txBody>
      </p:sp>
    </p:spTree>
    <p:extLst>
      <p:ext uri="{BB962C8B-B14F-4D97-AF65-F5344CB8AC3E}">
        <p14:creationId xmlns:p14="http://schemas.microsoft.com/office/powerpoint/2010/main" val="158415601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61DEDD-C45F-1480-882A-92908795F3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Express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051CE-BB4C-A6B9-4174-60A049A8B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848600" cy="4351338"/>
          </a:xfrm>
        </p:spPr>
        <p:txBody>
          <a:bodyPr>
            <a:normAutofit/>
          </a:bodyPr>
          <a:lstStyle/>
          <a:p>
            <a:r>
              <a:rPr lang="fi-FI" sz="2400" dirty="0"/>
              <a:t>Yleisin tapa tehdä </a:t>
            </a:r>
            <a:r>
              <a:rPr lang="fi-FI" sz="2400" dirty="0" err="1"/>
              <a:t>backend</a:t>
            </a:r>
            <a:r>
              <a:rPr lang="fi-FI" sz="2400" dirty="0"/>
              <a:t> </a:t>
            </a:r>
            <a:r>
              <a:rPr lang="fi-FI" sz="2400" dirty="0" err="1"/>
              <a:t>Node.js:llä</a:t>
            </a:r>
            <a:r>
              <a:rPr lang="fi-FI" sz="2400" dirty="0"/>
              <a:t> on käyttää Express-</a:t>
            </a:r>
            <a:r>
              <a:rPr lang="fi-FI" sz="2400" dirty="0" err="1"/>
              <a:t>frameworkiä</a:t>
            </a:r>
            <a:endParaRPr lang="fi-FI" sz="2400" dirty="0"/>
          </a:p>
          <a:p>
            <a:r>
              <a:rPr lang="fi-FI" sz="2400" dirty="0"/>
              <a:t>Otetaan Express käyttöön määrittelemällä se projektin riippuvuudeksi komennolla</a:t>
            </a:r>
          </a:p>
          <a:p>
            <a:pPr lvl="1"/>
            <a:r>
              <a:rPr lang="fi-FI" sz="2000" dirty="0" err="1"/>
              <a:t>npm</a:t>
            </a:r>
            <a:r>
              <a:rPr lang="fi-FI" sz="2000" dirty="0"/>
              <a:t> </a:t>
            </a:r>
            <a:r>
              <a:rPr lang="fi-FI" sz="2000" dirty="0" err="1"/>
              <a:t>install</a:t>
            </a:r>
            <a:r>
              <a:rPr lang="fi-FI" sz="2000" dirty="0"/>
              <a:t> express</a:t>
            </a:r>
          </a:p>
          <a:p>
            <a:r>
              <a:rPr lang="fi-FI" sz="2400" dirty="0"/>
              <a:t>Katso </a:t>
            </a:r>
            <a:r>
              <a:rPr lang="fi-FI" sz="2400" dirty="0" err="1"/>
              <a:t>package.json</a:t>
            </a:r>
            <a:r>
              <a:rPr lang="fi-FI" sz="2400" dirty="0"/>
              <a:t> </a:t>
            </a:r>
          </a:p>
          <a:p>
            <a:r>
              <a:rPr lang="fi-FI" sz="2400" dirty="0"/>
              <a:t>Riippuvuudet voi päivittää komennolla</a:t>
            </a:r>
          </a:p>
          <a:p>
            <a:pPr lvl="1"/>
            <a:r>
              <a:rPr lang="fi-FI" sz="2000" dirty="0" err="1"/>
              <a:t>npm</a:t>
            </a:r>
            <a:r>
              <a:rPr lang="fi-FI" sz="2000" dirty="0"/>
              <a:t> </a:t>
            </a:r>
            <a:r>
              <a:rPr lang="fi-FI" sz="2000" dirty="0" err="1"/>
              <a:t>update</a:t>
            </a:r>
            <a:endParaRPr lang="fi-FI" sz="2000" dirty="0"/>
          </a:p>
          <a:p>
            <a:r>
              <a:rPr lang="fi-FI" sz="2400" dirty="0"/>
              <a:t>Riippuvuudet saa asennettua komennolla</a:t>
            </a:r>
          </a:p>
          <a:p>
            <a:pPr lvl="1"/>
            <a:r>
              <a:rPr lang="fi-FI" sz="2000" dirty="0" err="1"/>
              <a:t>npm</a:t>
            </a:r>
            <a:r>
              <a:rPr lang="fi-FI" sz="2000" dirty="0"/>
              <a:t> </a:t>
            </a:r>
            <a:r>
              <a:rPr lang="fi-FI" sz="2000" dirty="0" err="1"/>
              <a:t>install</a:t>
            </a:r>
            <a:endParaRPr lang="fi-FI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C31CBF-8B3D-6570-E5AD-709A4D1288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5492" y="3670300"/>
            <a:ext cx="2108308" cy="1530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573259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EBC5C-95E2-B5B3-ECDB-AD77AB942F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Web ja Express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A7029E-55F1-0CB2-2C1F-A5C5BE733F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56350" cy="4351338"/>
          </a:xfrm>
        </p:spPr>
        <p:txBody>
          <a:bodyPr/>
          <a:lstStyle/>
          <a:p>
            <a:r>
              <a:rPr lang="fi-FI" dirty="0"/>
              <a:t>Muutetaan sovellus (index.js) muotoon</a:t>
            </a:r>
          </a:p>
          <a:p>
            <a:r>
              <a:rPr lang="fi-FI" dirty="0"/>
              <a:t>Käynnistä sovellus uudelleen</a:t>
            </a:r>
          </a:p>
          <a:p>
            <a:r>
              <a:rPr lang="fi-FI" dirty="0"/>
              <a:t>Sovelluksessa on määritelty kaksi </a:t>
            </a:r>
            <a:r>
              <a:rPr lang="fi-FI" i="1" dirty="0" err="1"/>
              <a:t>routea</a:t>
            </a:r>
            <a:endParaRPr lang="fi-FI" i="1" dirty="0"/>
          </a:p>
          <a:p>
            <a:pPr marL="457200" lvl="1" indent="0">
              <a:buNone/>
            </a:pPr>
            <a:r>
              <a:rPr lang="fi-FI" dirty="0" err="1"/>
              <a:t>app.get</a:t>
            </a:r>
            <a:r>
              <a:rPr lang="fi-FI" dirty="0"/>
              <a:t>('/', (</a:t>
            </a:r>
            <a:r>
              <a:rPr lang="fi-FI" dirty="0" err="1"/>
              <a:t>req</a:t>
            </a:r>
            <a:r>
              <a:rPr lang="fi-FI" dirty="0"/>
              <a:t>, </a:t>
            </a:r>
            <a:r>
              <a:rPr lang="fi-FI" dirty="0" err="1"/>
              <a:t>res</a:t>
            </a:r>
            <a:r>
              <a:rPr lang="fi-FI" dirty="0"/>
              <a:t>) =&gt; {</a:t>
            </a:r>
          </a:p>
          <a:p>
            <a:pPr marL="457200" lvl="1" indent="0">
              <a:buNone/>
            </a:pPr>
            <a:r>
              <a:rPr lang="fi-FI" dirty="0"/>
              <a:t>  </a:t>
            </a:r>
            <a:r>
              <a:rPr lang="fi-FI" dirty="0" err="1"/>
              <a:t>res.send</a:t>
            </a:r>
            <a:r>
              <a:rPr lang="fi-FI" dirty="0"/>
              <a:t>('&lt;h1&gt;</a:t>
            </a:r>
            <a:r>
              <a:rPr lang="fi-FI" dirty="0" err="1"/>
              <a:t>Hello</a:t>
            </a:r>
            <a:r>
              <a:rPr lang="fi-FI" dirty="0"/>
              <a:t> World!&lt;/h1&gt;')</a:t>
            </a:r>
          </a:p>
          <a:p>
            <a:pPr marL="457200" lvl="1" indent="0">
              <a:buNone/>
            </a:pPr>
            <a:r>
              <a:rPr lang="fi-FI" dirty="0"/>
              <a:t>})</a:t>
            </a:r>
          </a:p>
          <a:p>
            <a:pPr lvl="1"/>
            <a:endParaRPr lang="fi-FI" dirty="0"/>
          </a:p>
          <a:p>
            <a:pPr marL="457200" lvl="1" indent="0">
              <a:buNone/>
            </a:pPr>
            <a:r>
              <a:rPr lang="fi-FI" dirty="0" err="1"/>
              <a:t>app.get</a:t>
            </a:r>
            <a:r>
              <a:rPr lang="fi-FI" dirty="0"/>
              <a:t>('/</a:t>
            </a:r>
            <a:r>
              <a:rPr lang="fi-FI" dirty="0" err="1"/>
              <a:t>api</a:t>
            </a:r>
            <a:r>
              <a:rPr lang="fi-FI" dirty="0"/>
              <a:t>/</a:t>
            </a:r>
            <a:r>
              <a:rPr lang="fi-FI" dirty="0" err="1"/>
              <a:t>notes</a:t>
            </a:r>
            <a:r>
              <a:rPr lang="fi-FI" dirty="0"/>
              <a:t>', (</a:t>
            </a:r>
            <a:r>
              <a:rPr lang="fi-FI" dirty="0" err="1"/>
              <a:t>req</a:t>
            </a:r>
            <a:r>
              <a:rPr lang="fi-FI" dirty="0"/>
              <a:t>, </a:t>
            </a:r>
            <a:r>
              <a:rPr lang="fi-FI" dirty="0" err="1"/>
              <a:t>res</a:t>
            </a:r>
            <a:r>
              <a:rPr lang="fi-FI" dirty="0"/>
              <a:t>) =&gt; {</a:t>
            </a:r>
          </a:p>
          <a:p>
            <a:pPr marL="457200" lvl="1" indent="0">
              <a:buNone/>
            </a:pPr>
            <a:r>
              <a:rPr lang="fi-FI" dirty="0"/>
              <a:t>  </a:t>
            </a:r>
            <a:r>
              <a:rPr lang="fi-FI" dirty="0" err="1"/>
              <a:t>res.json</a:t>
            </a:r>
            <a:r>
              <a:rPr lang="fi-FI" dirty="0"/>
              <a:t>(</a:t>
            </a:r>
            <a:r>
              <a:rPr lang="fi-FI" dirty="0" err="1"/>
              <a:t>notes</a:t>
            </a:r>
            <a:r>
              <a:rPr lang="fi-FI" dirty="0"/>
              <a:t>)</a:t>
            </a:r>
          </a:p>
          <a:p>
            <a:pPr marL="457200" lvl="1" indent="0">
              <a:buNone/>
            </a:pPr>
            <a:r>
              <a:rPr lang="fi-FI" dirty="0"/>
              <a:t>})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FA52CF-F1F8-068B-117E-CD7C02D277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94550" y="1387361"/>
            <a:ext cx="4089610" cy="442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86347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BA6C9-2456-5C9B-1E89-2BB17D752D2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i-FI" dirty="0"/>
              <a:t>Yhdistetään </a:t>
            </a:r>
            <a:r>
              <a:rPr lang="fi-FI" dirty="0" err="1"/>
              <a:t>frontend</a:t>
            </a:r>
            <a:r>
              <a:rPr lang="fi-FI" dirty="0"/>
              <a:t> ja </a:t>
            </a:r>
            <a:r>
              <a:rPr lang="fi-FI" dirty="0" err="1"/>
              <a:t>backend</a:t>
            </a:r>
            <a:endParaRPr lang="fi-FI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1FDED8-DB87-0E38-601D-292149CE740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i-FI" dirty="0"/>
              <a:t>3b, Sovellus internetiin</a:t>
            </a:r>
          </a:p>
        </p:txBody>
      </p:sp>
    </p:spTree>
    <p:extLst>
      <p:ext uri="{BB962C8B-B14F-4D97-AF65-F5344CB8AC3E}">
        <p14:creationId xmlns:p14="http://schemas.microsoft.com/office/powerpoint/2010/main" val="96755675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E63BC-01EB-C7D9-062E-680D6A988F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i-FI" dirty="0"/>
              <a:t>Yhdistetään </a:t>
            </a:r>
            <a:r>
              <a:rPr lang="fi-FI" dirty="0" err="1"/>
              <a:t>frontend</a:t>
            </a:r>
            <a:r>
              <a:rPr lang="fi-FI" dirty="0"/>
              <a:t> ja </a:t>
            </a:r>
            <a:r>
              <a:rPr lang="fi-FI" dirty="0" err="1"/>
              <a:t>backend</a:t>
            </a:r>
            <a:endParaRPr lang="fi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A522FB-AF67-BAA1-5BD3-D69E1B5D26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97400" cy="4351338"/>
          </a:xfrm>
        </p:spPr>
        <p:txBody>
          <a:bodyPr>
            <a:normAutofit fontScale="92500" lnSpcReduction="20000"/>
          </a:bodyPr>
          <a:lstStyle/>
          <a:p>
            <a:r>
              <a:rPr lang="fi-FI" dirty="0"/>
              <a:t>Yhdistetään seuraavaksi osassa 2 tehty </a:t>
            </a:r>
            <a:r>
              <a:rPr lang="fi-FI" dirty="0" err="1"/>
              <a:t>frontend</a:t>
            </a:r>
            <a:r>
              <a:rPr lang="fi-FI" dirty="0"/>
              <a:t> luvun 3 alussa tehty </a:t>
            </a:r>
            <a:r>
              <a:rPr lang="fi-FI" dirty="0" err="1"/>
              <a:t>backend</a:t>
            </a:r>
            <a:endParaRPr lang="fi-FI" dirty="0"/>
          </a:p>
          <a:p>
            <a:pPr lvl="1"/>
            <a:r>
              <a:rPr lang="fi-FI" dirty="0"/>
              <a:t>Y:\Makela_Petteri\TITE22\Selainohjelmointi\Yhdistäminen\front2-7 (</a:t>
            </a:r>
            <a:r>
              <a:rPr lang="fi-FI" dirty="0" err="1"/>
              <a:t>branch</a:t>
            </a:r>
            <a:r>
              <a:rPr lang="fi-FI" dirty="0"/>
              <a:t> 2-7)</a:t>
            </a:r>
          </a:p>
          <a:p>
            <a:pPr lvl="1"/>
            <a:r>
              <a:rPr lang="fi-FI" dirty="0" err="1"/>
              <a:t>Backend</a:t>
            </a:r>
            <a:r>
              <a:rPr lang="fi-FI" dirty="0"/>
              <a:t>: Y:\Makela_Petteri\TITE22\Selainohjelmointi\Yhdistäminen\part3-notes-backend</a:t>
            </a:r>
          </a:p>
          <a:p>
            <a:r>
              <a:rPr lang="fi-FI" dirty="0"/>
              <a:t>Muutetaan </a:t>
            </a:r>
            <a:r>
              <a:rPr lang="fi-FI" dirty="0" err="1"/>
              <a:t>frontendin</a:t>
            </a:r>
            <a:r>
              <a:rPr lang="fi-FI" dirty="0"/>
              <a:t> tiedostossa </a:t>
            </a:r>
            <a:r>
              <a:rPr lang="fi-FI" dirty="0" err="1"/>
              <a:t>src</a:t>
            </a:r>
            <a:r>
              <a:rPr lang="fi-FI" dirty="0"/>
              <a:t>/</a:t>
            </a:r>
            <a:r>
              <a:rPr lang="fi-FI" dirty="0" err="1"/>
              <a:t>services</a:t>
            </a:r>
            <a:r>
              <a:rPr lang="fi-FI" dirty="0"/>
              <a:t>/notes.js määriteltyä muuttujaa </a:t>
            </a:r>
            <a:r>
              <a:rPr lang="fi-FI" dirty="0" err="1"/>
              <a:t>baseUrl</a:t>
            </a:r>
            <a:r>
              <a:rPr lang="fi-FI" dirty="0"/>
              <a:t> seuraavasti: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BAD346A-0F33-9728-190B-3683B5F8DD2F}"/>
              </a:ext>
            </a:extLst>
          </p:cNvPr>
          <p:cNvSpPr txBox="1"/>
          <p:nvPr/>
        </p:nvSpPr>
        <p:spPr>
          <a:xfrm>
            <a:off x="5708650" y="1467982"/>
            <a:ext cx="60960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import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axios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from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i-FI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axios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endParaRPr lang="fi-FI" sz="12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fi-FI" sz="1200" b="0" dirty="0" err="1">
                <a:solidFill>
                  <a:srgbClr val="0000FF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baseUrl</a:t>
            </a:r>
            <a:r>
              <a:rPr lang="fi-FI" sz="1200" b="0" dirty="0">
                <a:solidFill>
                  <a:srgbClr val="000000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 = </a:t>
            </a:r>
            <a:r>
              <a:rPr lang="fi-FI" sz="12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'http://localhost:3001/</a:t>
            </a:r>
            <a:r>
              <a:rPr lang="fi-FI" sz="12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api</a:t>
            </a:r>
            <a:r>
              <a:rPr lang="fi-FI" sz="12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/</a:t>
            </a:r>
            <a:r>
              <a:rPr lang="fi-FI" sz="1200" b="0" dirty="0" err="1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notes</a:t>
            </a:r>
            <a:r>
              <a:rPr lang="fi-FI" sz="1200" b="0" dirty="0">
                <a:solidFill>
                  <a:srgbClr val="A31515"/>
                </a:solidFill>
                <a:effectLst/>
                <a:highlight>
                  <a:srgbClr val="FFFF00"/>
                </a:highlight>
                <a:latin typeface="Consolas" panose="020B0609020204030204" pitchFamily="49" charset="0"/>
              </a:rPr>
              <a:t>'</a:t>
            </a:r>
            <a:endParaRPr lang="fi-FI" sz="1200" b="0" dirty="0">
              <a:solidFill>
                <a:srgbClr val="000000"/>
              </a:solidFill>
              <a:effectLst/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b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getAll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()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axios.get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baseUrl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nonExisting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{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id: </a:t>
            </a:r>
            <a:r>
              <a:rPr lang="fi-FI" sz="1200" b="0" dirty="0">
                <a:solidFill>
                  <a:srgbClr val="098658"/>
                </a:solidFill>
                <a:effectLst/>
                <a:latin typeface="Consolas" panose="020B0609020204030204" pitchFamily="49" charset="0"/>
              </a:rPr>
              <a:t>10000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content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i-FI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This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note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is </a:t>
            </a:r>
            <a:r>
              <a:rPr lang="fi-FI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not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saved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 to </a:t>
            </a:r>
            <a:r>
              <a:rPr lang="fi-FI" sz="1200" b="0" dirty="0" err="1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server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'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important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}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request.then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response.data.concat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nonExisting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newObject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axios.post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baseUrl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newObject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request.then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response.data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update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(id,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newObject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request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=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axios.put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baseUrl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${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id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r>
              <a:rPr lang="fi-FI" sz="1200" b="0" dirty="0">
                <a:solidFill>
                  <a:srgbClr val="A31515"/>
                </a:solidFill>
                <a:effectLst/>
                <a:latin typeface="Consolas" panose="020B0609020204030204" pitchFamily="49" charset="0"/>
              </a:rPr>
              <a:t>`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newObject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request.then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response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=&gt;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response.data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b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b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</a:b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fi-FI" sz="1200" b="0" dirty="0" err="1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{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getAll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create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fi-FI" sz="12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update</a:t>
            </a:r>
            <a:r>
              <a:rPr lang="fi-FI" sz="12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}</a:t>
            </a:r>
          </a:p>
        </p:txBody>
      </p:sp>
    </p:spTree>
    <p:extLst>
      <p:ext uri="{BB962C8B-B14F-4D97-AF65-F5344CB8AC3E}">
        <p14:creationId xmlns:p14="http://schemas.microsoft.com/office/powerpoint/2010/main" val="194905463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7E433-72C5-E8CD-534A-67B55CBBE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Same origin policy ja CORS</a:t>
            </a:r>
            <a:endParaRPr lang="fi-FI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81ED81-4CD6-943B-8BF4-F4AD5D3212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50550" cy="4351338"/>
          </a:xfrm>
        </p:spPr>
        <p:txBody>
          <a:bodyPr>
            <a:normAutofit fontScale="92500" lnSpcReduction="20000"/>
          </a:bodyPr>
          <a:lstStyle/>
          <a:p>
            <a:r>
              <a:rPr lang="fi-FI" sz="2000" dirty="0" err="1"/>
              <a:t>Backend</a:t>
            </a:r>
            <a:r>
              <a:rPr lang="fi-FI" sz="2000" dirty="0"/>
              <a:t> toimii selaimesta ja postmanista käytettäessä, mutta </a:t>
            </a:r>
            <a:r>
              <a:rPr lang="fi-FI" sz="2000" dirty="0" err="1"/>
              <a:t>frontendin</a:t>
            </a:r>
            <a:r>
              <a:rPr lang="fi-FI" sz="2000" dirty="0"/>
              <a:t> tekemä GET-pyyntö osoitteeseen http://localhost:3001/api/notes ei kuitenkaan toimi</a:t>
            </a:r>
          </a:p>
          <a:p>
            <a:r>
              <a:rPr lang="fi-FI" sz="2000" dirty="0"/>
              <a:t>Kyse on asiasta nimeltään CORS eli Cross-</a:t>
            </a:r>
            <a:r>
              <a:rPr lang="fi-FI" sz="2000" dirty="0" err="1"/>
              <a:t>origin</a:t>
            </a:r>
            <a:r>
              <a:rPr lang="fi-FI" sz="2000" dirty="0"/>
              <a:t> </a:t>
            </a:r>
            <a:r>
              <a:rPr lang="fi-FI" sz="2000" dirty="0" err="1"/>
              <a:t>resource</a:t>
            </a:r>
            <a:r>
              <a:rPr lang="fi-FI" sz="2000" dirty="0"/>
              <a:t> </a:t>
            </a:r>
            <a:r>
              <a:rPr lang="fi-FI" sz="2000" dirty="0" err="1"/>
              <a:t>sharing</a:t>
            </a:r>
            <a:r>
              <a:rPr lang="fi-FI" sz="2000" dirty="0"/>
              <a:t>.</a:t>
            </a:r>
          </a:p>
          <a:p>
            <a:pPr lvl="1"/>
            <a:r>
              <a:rPr lang="en-US" sz="1600" i="1" dirty="0"/>
              <a:t>Certain "cross-domain" requests, notably Ajax requests, are forbidden by default by the same-origin security policy.</a:t>
            </a:r>
          </a:p>
          <a:p>
            <a:r>
              <a:rPr lang="fi-FI" sz="2000" dirty="0"/>
              <a:t>Kyse on seuraavasta: web-sovelluksen selaimessa suoritettava JavaScript-koodi saa oletusarvoisesti kommunikoida vain samassa </a:t>
            </a:r>
            <a:r>
              <a:rPr lang="fi-FI" sz="2000" dirty="0" err="1"/>
              <a:t>originissa</a:t>
            </a:r>
            <a:r>
              <a:rPr lang="fi-FI" sz="2000" dirty="0"/>
              <a:t> olevan palvelimen kanssa. Koska palvelin on </a:t>
            </a:r>
            <a:r>
              <a:rPr lang="fi-FI" sz="2000" dirty="0" err="1"/>
              <a:t>localhostin</a:t>
            </a:r>
            <a:r>
              <a:rPr lang="fi-FI" sz="2000" dirty="0"/>
              <a:t> portissa 3001 ja </a:t>
            </a:r>
            <a:r>
              <a:rPr lang="fi-FI" sz="2000" dirty="0" err="1"/>
              <a:t>frontend</a:t>
            </a:r>
            <a:r>
              <a:rPr lang="fi-FI" sz="2000" dirty="0"/>
              <a:t> </a:t>
            </a:r>
            <a:r>
              <a:rPr lang="fi-FI" sz="2000" dirty="0" err="1"/>
              <a:t>localhostin</a:t>
            </a:r>
            <a:r>
              <a:rPr lang="fi-FI" sz="2000" dirty="0"/>
              <a:t> portissa 3000, niiden </a:t>
            </a:r>
            <a:r>
              <a:rPr lang="fi-FI" sz="2000" dirty="0" err="1"/>
              <a:t>origin</a:t>
            </a:r>
            <a:r>
              <a:rPr lang="fi-FI" sz="2000" dirty="0"/>
              <a:t> ei ole sama.</a:t>
            </a:r>
          </a:p>
          <a:p>
            <a:r>
              <a:rPr lang="fi-FI" sz="2000" dirty="0"/>
              <a:t>Muista </a:t>
            </a:r>
            <a:r>
              <a:rPr lang="fi-FI" sz="2000" dirty="0" err="1"/>
              <a:t>origineista</a:t>
            </a:r>
            <a:r>
              <a:rPr lang="fi-FI" sz="2000" dirty="0"/>
              <a:t> tulevat pyynnöt voidaan sallia käyttämällä </a:t>
            </a:r>
            <a:r>
              <a:rPr lang="fi-FI" sz="2000" dirty="0" err="1"/>
              <a:t>Noden</a:t>
            </a:r>
            <a:r>
              <a:rPr lang="fi-FI" sz="2000" dirty="0"/>
              <a:t> </a:t>
            </a:r>
            <a:r>
              <a:rPr lang="fi-FI" sz="2000" dirty="0" err="1"/>
              <a:t>cors-middlewarea</a:t>
            </a:r>
            <a:r>
              <a:rPr lang="fi-FI" sz="2000" dirty="0"/>
              <a:t>.</a:t>
            </a:r>
          </a:p>
          <a:p>
            <a:r>
              <a:rPr lang="fi-FI" sz="2000" dirty="0"/>
              <a:t>Asennan </a:t>
            </a:r>
            <a:r>
              <a:rPr lang="fi-FI" sz="2000" dirty="0" err="1"/>
              <a:t>backendiin</a:t>
            </a:r>
            <a:r>
              <a:rPr lang="fi-FI" sz="2000" dirty="0"/>
              <a:t> </a:t>
            </a:r>
            <a:r>
              <a:rPr lang="fi-FI" sz="2000" dirty="0" err="1"/>
              <a:t>cors</a:t>
            </a:r>
            <a:r>
              <a:rPr lang="fi-FI" sz="2000" dirty="0"/>
              <a:t>: </a:t>
            </a:r>
          </a:p>
          <a:p>
            <a:pPr lvl="1"/>
            <a:r>
              <a:rPr lang="fi-FI" sz="1600" dirty="0" err="1"/>
              <a:t>npm</a:t>
            </a:r>
            <a:r>
              <a:rPr lang="fi-FI" sz="1600" dirty="0"/>
              <a:t> </a:t>
            </a:r>
            <a:r>
              <a:rPr lang="fi-FI" sz="1600" dirty="0" err="1"/>
              <a:t>install</a:t>
            </a:r>
            <a:r>
              <a:rPr lang="fi-FI" sz="1600" dirty="0"/>
              <a:t> </a:t>
            </a:r>
            <a:r>
              <a:rPr lang="fi-FI" sz="1600" dirty="0" err="1"/>
              <a:t>cors</a:t>
            </a:r>
            <a:endParaRPr lang="fi-FI" sz="1600" dirty="0"/>
          </a:p>
          <a:p>
            <a:r>
              <a:rPr lang="fi-FI" sz="2000" dirty="0"/>
              <a:t>Otetaan </a:t>
            </a:r>
            <a:r>
              <a:rPr lang="fi-FI" sz="2000" dirty="0" err="1"/>
              <a:t>middleware</a:t>
            </a:r>
            <a:r>
              <a:rPr lang="fi-FI" sz="2000" dirty="0"/>
              <a:t> käyttöön toistaiseksi sellaisella konfiguraatiolla, joka sallii kaikista </a:t>
            </a:r>
            <a:r>
              <a:rPr lang="fi-FI" sz="2000" dirty="0" err="1"/>
              <a:t>origineista</a:t>
            </a:r>
            <a:r>
              <a:rPr lang="fi-FI" sz="2000" dirty="0"/>
              <a:t> tulevat pyynnöt kaikkiin </a:t>
            </a:r>
            <a:r>
              <a:rPr lang="fi-FI" sz="2000" dirty="0" err="1"/>
              <a:t>backendin</a:t>
            </a:r>
            <a:r>
              <a:rPr lang="fi-FI" sz="2000" dirty="0"/>
              <a:t> Express </a:t>
            </a:r>
            <a:r>
              <a:rPr lang="fi-FI" sz="2000" dirty="0" err="1"/>
              <a:t>routeihin</a:t>
            </a:r>
            <a:r>
              <a:rPr lang="fi-FI" sz="2000" dirty="0"/>
              <a:t>:</a:t>
            </a:r>
          </a:p>
          <a:p>
            <a:pPr marL="457200" lvl="1" indent="0">
              <a:buNone/>
            </a:pPr>
            <a:r>
              <a:rPr lang="fi-FI" sz="1600" dirty="0" err="1"/>
              <a:t>const</a:t>
            </a:r>
            <a:r>
              <a:rPr lang="fi-FI" sz="1600" dirty="0"/>
              <a:t> </a:t>
            </a:r>
            <a:r>
              <a:rPr lang="fi-FI" sz="1600" dirty="0" err="1"/>
              <a:t>cors</a:t>
            </a:r>
            <a:r>
              <a:rPr lang="fi-FI" sz="1600" dirty="0"/>
              <a:t> = </a:t>
            </a:r>
            <a:r>
              <a:rPr lang="fi-FI" sz="1600" dirty="0" err="1"/>
              <a:t>require</a:t>
            </a:r>
            <a:r>
              <a:rPr lang="fi-FI" sz="1600" dirty="0"/>
              <a:t>('</a:t>
            </a:r>
            <a:r>
              <a:rPr lang="fi-FI" sz="1600" dirty="0" err="1"/>
              <a:t>cors</a:t>
            </a:r>
            <a:r>
              <a:rPr lang="fi-FI" sz="1600" dirty="0"/>
              <a:t>')</a:t>
            </a:r>
          </a:p>
          <a:p>
            <a:pPr marL="457200" lvl="1" indent="0">
              <a:buNone/>
            </a:pPr>
            <a:r>
              <a:rPr lang="fi-FI" sz="1600" dirty="0" err="1"/>
              <a:t>app.use</a:t>
            </a:r>
            <a:r>
              <a:rPr lang="fi-FI" sz="1600" dirty="0"/>
              <a:t>(</a:t>
            </a:r>
            <a:r>
              <a:rPr lang="fi-FI" sz="1600" dirty="0" err="1"/>
              <a:t>cors</a:t>
            </a:r>
            <a:r>
              <a:rPr lang="fi-FI" sz="1600" dirty="0"/>
              <a:t>())</a:t>
            </a:r>
          </a:p>
          <a:p>
            <a:r>
              <a:rPr lang="fi-FI" sz="2000" dirty="0"/>
              <a:t>Testaa!</a:t>
            </a:r>
          </a:p>
          <a:p>
            <a:r>
              <a:rPr lang="fi-FI" sz="2000" dirty="0"/>
              <a:t>Huomaa, että </a:t>
            </a:r>
            <a:r>
              <a:rPr lang="fi-FI" sz="2000" dirty="0" err="1"/>
              <a:t>backendistä</a:t>
            </a:r>
            <a:r>
              <a:rPr lang="fi-FI" sz="2000" dirty="0"/>
              <a:t> puuttuu </a:t>
            </a:r>
            <a:r>
              <a:rPr lang="fi-FI" sz="2000"/>
              <a:t>käsittely putille</a:t>
            </a:r>
            <a:endParaRPr lang="fi-FI" sz="2000" dirty="0"/>
          </a:p>
        </p:txBody>
      </p:sp>
    </p:spTree>
    <p:extLst>
      <p:ext uri="{BB962C8B-B14F-4D97-AF65-F5344CB8AC3E}">
        <p14:creationId xmlns:p14="http://schemas.microsoft.com/office/powerpoint/2010/main" val="2098747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5d450db0-bd77-4f6d-8c24-f5b8eb41301d}" enabled="1" method="Standard" siteId="{8e83a730-1a46-40ed-8797-1d2d98cac2d1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1887</TotalTime>
  <Words>7448</Words>
  <Application>Microsoft Office PowerPoint</Application>
  <PresentationFormat>Widescreen</PresentationFormat>
  <Paragraphs>1105</Paragraphs>
  <Slides>77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77</vt:i4>
      </vt:variant>
    </vt:vector>
  </HeadingPairs>
  <TitlesOfParts>
    <vt:vector size="85" baseType="lpstr">
      <vt:lpstr>Aptos</vt:lpstr>
      <vt:lpstr>Arial</vt:lpstr>
      <vt:lpstr>Calibri</vt:lpstr>
      <vt:lpstr>Calibri Light</vt:lpstr>
      <vt:lpstr>Consolas</vt:lpstr>
      <vt:lpstr>Courier</vt:lpstr>
      <vt:lpstr>IBM Plex Sans</vt:lpstr>
      <vt:lpstr>Office Theme</vt:lpstr>
      <vt:lpstr>Selainohjelmointi</vt:lpstr>
      <vt:lpstr>Selainohjelmointi</vt:lpstr>
      <vt:lpstr>Kurssin suoritus</vt:lpstr>
      <vt:lpstr>Arviointi</vt:lpstr>
      <vt:lpstr>Osa 0</vt:lpstr>
      <vt:lpstr>Web-sovellusten toiminnan perusteet</vt:lpstr>
      <vt:lpstr>Reactin alkeet</vt:lpstr>
      <vt:lpstr>Reactin alkeet</vt:lpstr>
      <vt:lpstr>Reactin alkeet</vt:lpstr>
      <vt:lpstr>Reactin alkeet – sovelluksen luominen</vt:lpstr>
      <vt:lpstr>Reactin alkeet – main.jsx ja App.jsx</vt:lpstr>
      <vt:lpstr>Reactin alkeet – main.jsx ja App.jsx</vt:lpstr>
      <vt:lpstr>Reactin alkeet – komponentti</vt:lpstr>
      <vt:lpstr>Reactin alkeet – funktion määrittely</vt:lpstr>
      <vt:lpstr>Reactin alkeet – dynaaminen sisältö</vt:lpstr>
      <vt:lpstr>JSX</vt:lpstr>
      <vt:lpstr>Monta komponenttia</vt:lpstr>
      <vt:lpstr>Tiedonvälitys komponenttien välillä (props)</vt:lpstr>
      <vt:lpstr>Tiedonvälitys komponenttien välillä (props)</vt:lpstr>
      <vt:lpstr>Olioiden renderöinti ei onnistu</vt:lpstr>
      <vt:lpstr>Tehtävät</vt:lpstr>
      <vt:lpstr>Tehtävä 1.1 ja 1.2</vt:lpstr>
      <vt:lpstr>JavaScript</vt:lpstr>
      <vt:lpstr>Javascript</vt:lpstr>
      <vt:lpstr>Taulukot</vt:lpstr>
      <vt:lpstr>Map</vt:lpstr>
      <vt:lpstr>Destruktoiva sijoituslause</vt:lpstr>
      <vt:lpstr>Oliot</vt:lpstr>
      <vt:lpstr>Olion käyttäminen</vt:lpstr>
      <vt:lpstr>Funktiot</vt:lpstr>
      <vt:lpstr>Tehtävät 1.3 – 1.5</vt:lpstr>
      <vt:lpstr>Komponentin tila ja tapahtumankäsittely</vt:lpstr>
      <vt:lpstr>Komponenttien apufunktiot</vt:lpstr>
      <vt:lpstr>Destrukturointi</vt:lpstr>
      <vt:lpstr>Tilallinen komponentti</vt:lpstr>
      <vt:lpstr>Tapahtumankäsittely</vt:lpstr>
      <vt:lpstr>Tapahtumankäsittely</vt:lpstr>
      <vt:lpstr>Tapahtumankäsittely</vt:lpstr>
      <vt:lpstr>Lomakkeet</vt:lpstr>
      <vt:lpstr>Lomakkeet</vt:lpstr>
      <vt:lpstr>Lomakkeet - Form</vt:lpstr>
      <vt:lpstr>Kontrolloitu komponentti</vt:lpstr>
      <vt:lpstr>Kontrolloitu komponentti</vt:lpstr>
      <vt:lpstr>Näytettävien elementtien filtteröinti</vt:lpstr>
      <vt:lpstr>Tehtävät 2.6.-2.10.</vt:lpstr>
      <vt:lpstr>Palvelimella olevan datan hakeminen</vt:lpstr>
      <vt:lpstr>Palvelimella olevan datan hakeminen</vt:lpstr>
      <vt:lpstr>Materiaalin esimerkki</vt:lpstr>
      <vt:lpstr>Lisäasennuksia</vt:lpstr>
      <vt:lpstr>Axios</vt:lpstr>
      <vt:lpstr>Axios</vt:lpstr>
      <vt:lpstr>Promise</vt:lpstr>
      <vt:lpstr>Promise</vt:lpstr>
      <vt:lpstr>Effect hookit</vt:lpstr>
      <vt:lpstr>Suoritusympäristö kehitysaikana</vt:lpstr>
      <vt:lpstr>Tehtävä 2.11</vt:lpstr>
      <vt:lpstr>Palvelimella olevan datan muokkaaminen</vt:lpstr>
      <vt:lpstr>REST</vt:lpstr>
      <vt:lpstr>Datan lähetys palvelimelle</vt:lpstr>
      <vt:lpstr>Tiedon muuttaminen (muistiinpanon tärkeyden muutos)</vt:lpstr>
      <vt:lpstr>Tapahtumakäsittelijä</vt:lpstr>
      <vt:lpstr>Palvelimen kanssa tapahtuvan kommunikoinnin eristäminen omaan moduuliin</vt:lpstr>
      <vt:lpstr>Palvelinkommunikointi omaan moduuliin</vt:lpstr>
      <vt:lpstr>Lyhyempi tapa olioliteraalien määrittelyyn</vt:lpstr>
      <vt:lpstr>Then palauttaa promisen</vt:lpstr>
      <vt:lpstr>Muutokset App-komponenttiin</vt:lpstr>
      <vt:lpstr>Muutokset App-komponenttiin</vt:lpstr>
      <vt:lpstr>Promise ja virheet</vt:lpstr>
      <vt:lpstr>Promise ja virheet</vt:lpstr>
      <vt:lpstr>Node.js ja Express</vt:lpstr>
      <vt:lpstr>Node.js ja Express</vt:lpstr>
      <vt:lpstr>Node.js hello world</vt:lpstr>
      <vt:lpstr>Express</vt:lpstr>
      <vt:lpstr>Web ja Express</vt:lpstr>
      <vt:lpstr>Yhdistetään frontend ja backend</vt:lpstr>
      <vt:lpstr>Yhdistetään frontend ja backend</vt:lpstr>
      <vt:lpstr>Same origin policy ja CORS</vt:lpstr>
    </vt:vector>
  </TitlesOfParts>
  <Company>Epedu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</dc:title>
  <dc:creator>Mäkelä, Petteri</dc:creator>
  <cp:lastModifiedBy>Mäkelä, Petteri</cp:lastModifiedBy>
  <cp:revision>156</cp:revision>
  <dcterms:created xsi:type="dcterms:W3CDTF">2018-11-12T10:33:44Z</dcterms:created>
  <dcterms:modified xsi:type="dcterms:W3CDTF">2026-09-04T07:04:06Z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HeaderLocations">
    <vt:lpwstr>Office Theme:8</vt:lpwstr>
  </property>
  <property fmtid="{D5CDD505-2E9C-101B-9397-08002B2CF9AE}" pid="3" name="ClassificationContentMarkingHeaderText">
    <vt:lpwstr>Luottamuksellinen - Confidential (3Y)</vt:lpwstr>
  </property>
</Properties>
</file>